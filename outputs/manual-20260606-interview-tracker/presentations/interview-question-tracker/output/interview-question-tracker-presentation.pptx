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framing the real user problem: candidates do not just need another list, they need a lightweight revision memory. Emphasize that this project intentionally avoids authentication, cloud deployment, Docker, and extra infrastructure so the focus remains on clean full-stack fundamentals. The success criterion is simple: in a 5-minute demo, the user can add a problem, search or filter it, update the status, and see solved progress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design is intentionally pragmatic. The frontend owns user interaction and display state. The backend owns validation, HTTP semantics, and database access. PostgreSQL owns durable storage and data constraints. The strongest engineering choice here is restraint: the app has enough layers to be professional, but avoids unnecessary enterprise abstractions.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The browser never talks to the database. It talks to a small API client, which talks to Express endpoints. Inside the backend, controllers remain focused on request and response handling while services own SQL. This makes the code easier for a junior developer to trace: if a route fails, check the controller; if a query fails, check the service; if UI state looks wrong, check App.tsx and problemsApi.ts.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database and API were designed from the UI requirements backward. The UI needs searchable fields, filters, status updates, deletion, and solved count. That maps to one table and a small REST API. The PATCH endpoint is intentionally scoped to status because that is the only inline edit feature. Also highlight the layered validation: frontend checks, backend validators, and database CHECK constraints.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actual presentation close. First, run through the live demo sequence: open the UI, add a problem, filter it, update status, and delete it. Then explain future enhancements carefully. The point is not to promise enterprise features. The point is to show judgment: add only features that improve the candidate's revision workflow, such as revision dates, analytics, or import/export.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rot="2100000">
            <a:off x="9646920" y="-685800"/>
            <a:ext cx="3474720" cy="3474720"/>
          </a:xfrm>
          <a:prstGeom prst="arc">
            <a:avLst/>
          </a:prstGeom>
          <a:solidFill>
            <a:srgbClr val="DBEAFE">
              <a:alpha val="82000"/>
            </a:srgbClr>
          </a:solidFill>
          <a:ln w="12700">
            <a:solidFill>
              <a:srgbClr val="DBEAFE">
                <a:alpha val="0"/>
              </a:srgbClr>
            </a:solidFill>
            <a:prstDash val="solid"/>
          </a:ln>
        </p:spPr>
      </p:sp>
      <p:sp>
        <p:nvSpPr>
          <p:cNvPr id="4" name="Text 2"/>
          <p:cNvSpPr/>
          <p:nvPr/>
        </p:nvSpPr>
        <p:spPr>
          <a:xfrm>
            <a:off x="502920" y="320040"/>
            <a:ext cx="4389120" cy="256032"/>
          </a:xfrm>
          <a:prstGeom prst="rect">
            <a:avLst/>
          </a:prstGeom>
          <a:noFill/>
          <a:ln/>
        </p:spPr>
        <p:txBody>
          <a:bodyPr wrap="square" rtlCol="0" anchor="ctr"/>
          <a:lstStyle/>
          <a:p>
            <a:pPr indent="0" marL="0">
              <a:buNone/>
            </a:pPr>
            <a:r>
              <a:rPr lang="en-US" sz="900" b="1" dirty="0">
                <a:solidFill>
                  <a:srgbClr val="2563EB"/>
                </a:solidFill>
                <a:latin typeface="Aptos" pitchFamily="34" charset="0"/>
                <a:ea typeface="Aptos" pitchFamily="34" charset="-122"/>
                <a:cs typeface="Aptos" pitchFamily="34" charset="-120"/>
              </a:rPr>
              <a:t>PROBLEM STATEMENT</a:t>
            </a:r>
            <a:endParaRPr lang="en-US" sz="900" dirty="0"/>
          </a:p>
        </p:txBody>
      </p:sp>
      <p:sp>
        <p:nvSpPr>
          <p:cNvPr id="5" name="Text 3"/>
          <p:cNvSpPr/>
          <p:nvPr/>
        </p:nvSpPr>
        <p:spPr>
          <a:xfrm>
            <a:off x="502920" y="685800"/>
            <a:ext cx="7680960" cy="658368"/>
          </a:xfrm>
          <a:prstGeom prst="rect">
            <a:avLst/>
          </a:prstGeom>
          <a:noFill/>
          <a:ln/>
        </p:spPr>
        <p:txBody>
          <a:bodyPr wrap="square" lIns="0" tIns="0" rIns="0" bIns="0" rtlCol="0" anchor="ctr"/>
          <a:lstStyle/>
          <a:p>
            <a:pPr indent="0" marL="0">
              <a:buNone/>
            </a:pPr>
            <a:r>
              <a:rPr lang="en-US" sz="2900" b="1" dirty="0">
                <a:solidFill>
                  <a:srgbClr val="0F172A"/>
                </a:solidFill>
                <a:latin typeface="Aptos Display" pitchFamily="34" charset="0"/>
                <a:ea typeface="Aptos Display" pitchFamily="34" charset="-122"/>
                <a:cs typeface="Aptos Display" pitchFamily="34" charset="-120"/>
              </a:rPr>
              <a:t>DSA practice is hard to retain without a revision system</a:t>
            </a:r>
            <a:endParaRPr lang="en-US" sz="2900" dirty="0"/>
          </a:p>
        </p:txBody>
      </p:sp>
      <p:sp>
        <p:nvSpPr>
          <p:cNvPr id="6" name="Text 4"/>
          <p:cNvSpPr/>
          <p:nvPr/>
        </p:nvSpPr>
        <p:spPr>
          <a:xfrm>
            <a:off x="530352" y="1353312"/>
            <a:ext cx="7040880" cy="411480"/>
          </a:xfrm>
          <a:prstGeom prst="rect">
            <a:avLst/>
          </a:prstGeom>
          <a:noFill/>
          <a:ln/>
        </p:spPr>
        <p:txBody>
          <a:bodyPr wrap="square" lIns="0" tIns="0" rIns="0" bIns="0" rtlCol="0" anchor="ctr"/>
          <a:lstStyle/>
          <a:p>
            <a:pPr indent="0" marL="0">
              <a:buNone/>
            </a:pPr>
            <a:r>
              <a:rPr lang="en-US" sz="1250" dirty="0">
                <a:solidFill>
                  <a:srgbClr val="475569"/>
                </a:solidFill>
              </a:rPr>
              <a:t>Candidates solve problems across platforms, but usually track progress in scattered notes or memory.</a:t>
            </a:r>
            <a:endParaRPr lang="en-US" sz="1250" dirty="0"/>
          </a:p>
        </p:txBody>
      </p:sp>
      <p:sp>
        <p:nvSpPr>
          <p:cNvPr id="7" name="Shape 5"/>
          <p:cNvSpPr/>
          <p:nvPr/>
        </p:nvSpPr>
        <p:spPr>
          <a:xfrm>
            <a:off x="685800" y="2148840"/>
            <a:ext cx="333756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19050" dist="50800" dir="2700000">
              <a:srgbClr val="94A3B8">
                <a:alpha val="16000"/>
              </a:srgbClr>
            </a:outerShdw>
          </a:effectLst>
        </p:spPr>
      </p:sp>
      <p:sp>
        <p:nvSpPr>
          <p:cNvPr id="8" name="Shape 6"/>
          <p:cNvSpPr/>
          <p:nvPr/>
        </p:nvSpPr>
        <p:spPr>
          <a:xfrm>
            <a:off x="685800" y="2148840"/>
            <a:ext cx="73152" cy="2057400"/>
          </a:xfrm>
          <a:prstGeom prst="rect">
            <a:avLst/>
          </a:prstGeom>
          <a:solidFill>
            <a:srgbClr val="E11D48"/>
          </a:solidFill>
          <a:ln w="12700">
            <a:solidFill>
              <a:srgbClr val="E11D48"/>
            </a:solidFill>
            <a:prstDash val="solid"/>
          </a:ln>
        </p:spPr>
      </p:sp>
      <p:sp>
        <p:nvSpPr>
          <p:cNvPr id="9" name="Text 7"/>
          <p:cNvSpPr/>
          <p:nvPr/>
        </p:nvSpPr>
        <p:spPr>
          <a:xfrm>
            <a:off x="886968" y="2331720"/>
            <a:ext cx="2971800" cy="256032"/>
          </a:xfrm>
          <a:prstGeom prst="rect">
            <a:avLst/>
          </a:prstGeom>
          <a:noFill/>
          <a:ln/>
        </p:spPr>
        <p:txBody>
          <a:bodyPr wrap="square" lIns="0" tIns="0" rIns="0" bIns="0" rtlCol="0" anchor="ctr"/>
          <a:lstStyle/>
          <a:p>
            <a:pPr indent="0" marL="0">
              <a:buNone/>
            </a:pPr>
            <a:r>
              <a:rPr lang="en-US" sz="1000" b="1" dirty="0">
                <a:solidFill>
                  <a:srgbClr val="E11D48"/>
                </a:solidFill>
              </a:rPr>
              <a:t>Pain Point 1</a:t>
            </a:r>
            <a:endParaRPr lang="en-US" sz="1000" dirty="0"/>
          </a:p>
        </p:txBody>
      </p:sp>
      <p:sp>
        <p:nvSpPr>
          <p:cNvPr id="10" name="Text 8"/>
          <p:cNvSpPr/>
          <p:nvPr/>
        </p:nvSpPr>
        <p:spPr>
          <a:xfrm>
            <a:off x="886968" y="2679192"/>
            <a:ext cx="2926080" cy="1417320"/>
          </a:xfrm>
          <a:prstGeom prst="rect">
            <a:avLst/>
          </a:prstGeom>
          <a:noFill/>
          <a:ln/>
        </p:spPr>
        <p:txBody>
          <a:bodyPr wrap="square" lIns="254" tIns="254" rIns="254" bIns="254" rtlCol="0" anchor="ctr">
            <a:normAutofit/>
          </a:bodyPr>
          <a:lstStyle/>
          <a:p>
            <a:pPr indent="0" marL="0">
              <a:buNone/>
            </a:pPr>
            <a:r>
              <a:rPr lang="en-US" sz="1300" dirty="0">
                <a:solidFill>
                  <a:srgbClr val="0F172A"/>
                </a:solidFill>
              </a:rPr>
              <a:t>Solved problems get lost across LeetCode, GFG, Codeforces, notes, and spreadsheets.</a:t>
            </a:r>
            <a:endParaRPr lang="en-US" sz="1300" dirty="0"/>
          </a:p>
        </p:txBody>
      </p:sp>
      <p:sp>
        <p:nvSpPr>
          <p:cNvPr id="11" name="Shape 9"/>
          <p:cNvSpPr/>
          <p:nvPr/>
        </p:nvSpPr>
        <p:spPr>
          <a:xfrm>
            <a:off x="4434840" y="2148840"/>
            <a:ext cx="333756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19050" dist="50800" dir="2700000">
              <a:srgbClr val="94A3B8">
                <a:alpha val="16000"/>
              </a:srgbClr>
            </a:outerShdw>
          </a:effectLst>
        </p:spPr>
      </p:sp>
      <p:sp>
        <p:nvSpPr>
          <p:cNvPr id="12" name="Shape 10"/>
          <p:cNvSpPr/>
          <p:nvPr/>
        </p:nvSpPr>
        <p:spPr>
          <a:xfrm>
            <a:off x="4434840" y="2148840"/>
            <a:ext cx="73152" cy="2057400"/>
          </a:xfrm>
          <a:prstGeom prst="rect">
            <a:avLst/>
          </a:prstGeom>
          <a:solidFill>
            <a:srgbClr val="F59E0B"/>
          </a:solidFill>
          <a:ln w="12700">
            <a:solidFill>
              <a:srgbClr val="F59E0B"/>
            </a:solidFill>
            <a:prstDash val="solid"/>
          </a:ln>
        </p:spPr>
      </p:sp>
      <p:sp>
        <p:nvSpPr>
          <p:cNvPr id="13" name="Text 11"/>
          <p:cNvSpPr/>
          <p:nvPr/>
        </p:nvSpPr>
        <p:spPr>
          <a:xfrm>
            <a:off x="4636008" y="2331720"/>
            <a:ext cx="2971800" cy="256032"/>
          </a:xfrm>
          <a:prstGeom prst="rect">
            <a:avLst/>
          </a:prstGeom>
          <a:noFill/>
          <a:ln/>
        </p:spPr>
        <p:txBody>
          <a:bodyPr wrap="square" lIns="0" tIns="0" rIns="0" bIns="0" rtlCol="0" anchor="ctr"/>
          <a:lstStyle/>
          <a:p>
            <a:pPr indent="0" marL="0">
              <a:buNone/>
            </a:pPr>
            <a:r>
              <a:rPr lang="en-US" sz="1000" b="1" dirty="0">
                <a:solidFill>
                  <a:srgbClr val="F59E0B"/>
                </a:solidFill>
              </a:rPr>
              <a:t>Pain Point 2</a:t>
            </a:r>
            <a:endParaRPr lang="en-US" sz="1000" dirty="0"/>
          </a:p>
        </p:txBody>
      </p:sp>
      <p:sp>
        <p:nvSpPr>
          <p:cNvPr id="14" name="Text 12"/>
          <p:cNvSpPr/>
          <p:nvPr/>
        </p:nvSpPr>
        <p:spPr>
          <a:xfrm>
            <a:off x="4636008" y="2679192"/>
            <a:ext cx="2926080" cy="1417320"/>
          </a:xfrm>
          <a:prstGeom prst="rect">
            <a:avLst/>
          </a:prstGeom>
          <a:noFill/>
          <a:ln/>
        </p:spPr>
        <p:txBody>
          <a:bodyPr wrap="square" lIns="254" tIns="254" rIns="254" bIns="254" rtlCol="0" anchor="ctr">
            <a:normAutofit/>
          </a:bodyPr>
          <a:lstStyle/>
          <a:p>
            <a:pPr indent="0" marL="0">
              <a:buNone/>
            </a:pPr>
            <a:r>
              <a:rPr lang="en-US" sz="1300" dirty="0">
                <a:solidFill>
                  <a:srgbClr val="0F172A"/>
                </a:solidFill>
              </a:rPr>
              <a:t>Revision planning is weak when status, topic, difficulty, and notes are not searchable together.</a:t>
            </a:r>
            <a:endParaRPr lang="en-US" sz="1300" dirty="0"/>
          </a:p>
        </p:txBody>
      </p:sp>
      <p:sp>
        <p:nvSpPr>
          <p:cNvPr id="15" name="Shape 13"/>
          <p:cNvSpPr/>
          <p:nvPr/>
        </p:nvSpPr>
        <p:spPr>
          <a:xfrm>
            <a:off x="8183880" y="2148840"/>
            <a:ext cx="3337560" cy="2057400"/>
          </a:xfrm>
          <a:prstGeom prst="roundRect">
            <a:avLst>
              <a:gd name="adj" fmla="val 3556"/>
            </a:avLst>
          </a:prstGeom>
          <a:solidFill>
            <a:srgbClr val="FFFFFF"/>
          </a:solidFill>
          <a:ln w="12700">
            <a:solidFill>
              <a:srgbClr val="E2E8F0"/>
            </a:solidFill>
            <a:prstDash val="solid"/>
          </a:ln>
          <a:effectLst>
            <a:outerShdw sx="100000" sy="100000" kx="0" ky="0" algn="bl" rotWithShape="0" blurRad="19050" dist="50800" dir="2700000">
              <a:srgbClr val="94A3B8">
                <a:alpha val="16000"/>
              </a:srgbClr>
            </a:outerShdw>
          </a:effectLst>
        </p:spPr>
      </p:sp>
      <p:sp>
        <p:nvSpPr>
          <p:cNvPr id="16" name="Shape 14"/>
          <p:cNvSpPr/>
          <p:nvPr/>
        </p:nvSpPr>
        <p:spPr>
          <a:xfrm>
            <a:off x="8183880" y="2148840"/>
            <a:ext cx="73152" cy="2057400"/>
          </a:xfrm>
          <a:prstGeom prst="rect">
            <a:avLst/>
          </a:prstGeom>
          <a:solidFill>
            <a:srgbClr val="2563EB"/>
          </a:solidFill>
          <a:ln w="12700">
            <a:solidFill>
              <a:srgbClr val="2563EB"/>
            </a:solidFill>
            <a:prstDash val="solid"/>
          </a:ln>
        </p:spPr>
      </p:sp>
      <p:sp>
        <p:nvSpPr>
          <p:cNvPr id="17" name="Text 15"/>
          <p:cNvSpPr/>
          <p:nvPr/>
        </p:nvSpPr>
        <p:spPr>
          <a:xfrm>
            <a:off x="8385048" y="2331720"/>
            <a:ext cx="2971800" cy="256032"/>
          </a:xfrm>
          <a:prstGeom prst="rect">
            <a:avLst/>
          </a:prstGeom>
          <a:noFill/>
          <a:ln/>
        </p:spPr>
        <p:txBody>
          <a:bodyPr wrap="square" lIns="0" tIns="0" rIns="0" bIns="0" rtlCol="0" anchor="ctr"/>
          <a:lstStyle/>
          <a:p>
            <a:pPr indent="0" marL="0">
              <a:buNone/>
            </a:pPr>
            <a:r>
              <a:rPr lang="en-US" sz="1000" b="1" dirty="0">
                <a:solidFill>
                  <a:srgbClr val="2563EB"/>
                </a:solidFill>
              </a:rPr>
              <a:t>Pain Point 3</a:t>
            </a:r>
            <a:endParaRPr lang="en-US" sz="1000" dirty="0"/>
          </a:p>
        </p:txBody>
      </p:sp>
      <p:sp>
        <p:nvSpPr>
          <p:cNvPr id="18" name="Text 16"/>
          <p:cNvSpPr/>
          <p:nvPr/>
        </p:nvSpPr>
        <p:spPr>
          <a:xfrm>
            <a:off x="8385048" y="2679192"/>
            <a:ext cx="2926080" cy="1417320"/>
          </a:xfrm>
          <a:prstGeom prst="rect">
            <a:avLst/>
          </a:prstGeom>
          <a:noFill/>
          <a:ln/>
        </p:spPr>
        <p:txBody>
          <a:bodyPr wrap="square" lIns="254" tIns="254" rIns="254" bIns="254" rtlCol="0" anchor="ctr">
            <a:normAutofit/>
          </a:bodyPr>
          <a:lstStyle/>
          <a:p>
            <a:pPr indent="0" marL="0">
              <a:buNone/>
            </a:pPr>
            <a:r>
              <a:rPr lang="en-US" sz="1300" dirty="0">
                <a:solidFill>
                  <a:srgbClr val="0F172A"/>
                </a:solidFill>
              </a:rPr>
              <a:t>During interviews, candidates need a quick view of solved count and weak areas.</a:t>
            </a:r>
            <a:endParaRPr lang="en-US" sz="1300" dirty="0"/>
          </a:p>
        </p:txBody>
      </p:sp>
      <p:sp>
        <p:nvSpPr>
          <p:cNvPr id="19" name="Text 17"/>
          <p:cNvSpPr/>
          <p:nvPr/>
        </p:nvSpPr>
        <p:spPr>
          <a:xfrm>
            <a:off x="1005840" y="4828032"/>
            <a:ext cx="10149840" cy="502920"/>
          </a:xfrm>
          <a:prstGeom prst="rect">
            <a:avLst/>
          </a:prstGeom>
          <a:noFill/>
          <a:ln/>
        </p:spPr>
        <p:txBody>
          <a:bodyPr wrap="square" lIns="0" tIns="0" rIns="0" bIns="0" rtlCol="0" anchor="ctr"/>
          <a:lstStyle/>
          <a:p>
            <a:pPr algn="ctr" indent="0" marL="0">
              <a:buNone/>
            </a:pPr>
            <a:r>
              <a:rPr lang="en-US" sz="1800" b="1" dirty="0">
                <a:solidFill>
                  <a:srgbClr val="0F172A"/>
                </a:solidFill>
              </a:rPr>
              <a:t>Goal: a simple local full-stack tracker that makes practice progress visible and demoable.</a:t>
            </a:r>
            <a:endParaRPr lang="en-US" sz="1800" dirty="0"/>
          </a:p>
        </p:txBody>
      </p:sp>
      <p:sp>
        <p:nvSpPr>
          <p:cNvPr id="20" name="Text 18"/>
          <p:cNvSpPr/>
          <p:nvPr/>
        </p:nvSpPr>
        <p:spPr>
          <a:xfrm>
            <a:off x="502920" y="6510528"/>
            <a:ext cx="3200400" cy="182880"/>
          </a:xfrm>
          <a:prstGeom prst="rect">
            <a:avLst/>
          </a:prstGeom>
          <a:noFill/>
          <a:ln/>
        </p:spPr>
        <p:txBody>
          <a:bodyPr wrap="square" lIns="0" tIns="0" rIns="0" bIns="0" rtlCol="0" anchor="ctr"/>
          <a:lstStyle/>
          <a:p>
            <a:pPr indent="0" marL="0">
              <a:buNone/>
            </a:pPr>
            <a:r>
              <a:rPr lang="en-US" sz="750" dirty="0">
                <a:solidFill>
                  <a:srgbClr val="64748B"/>
                </a:solidFill>
              </a:rPr>
              <a:t>Interview Question Tracker  |  1/5</a:t>
            </a:r>
            <a:endParaRPr lang="en-US" sz="750" dirty="0"/>
          </a:p>
        </p:txBody>
      </p:sp>
      <p:sp>
        <p:nvSpPr>
          <p:cNvPr id="21" name="Shape 19"/>
          <p:cNvSpPr/>
          <p:nvPr/>
        </p:nvSpPr>
        <p:spPr>
          <a:xfrm>
            <a:off x="9875520" y="6601968"/>
            <a:ext cx="1737360" cy="0"/>
          </a:xfrm>
          <a:prstGeom prst="line">
            <a:avLst/>
          </a:prstGeom>
          <a:noFill/>
          <a:ln w="12700">
            <a:solidFill>
              <a:srgbClr val="2563E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rot="2100000">
            <a:off x="9646920" y="-685800"/>
            <a:ext cx="3474720" cy="3474720"/>
          </a:xfrm>
          <a:prstGeom prst="arc">
            <a:avLst/>
          </a:prstGeom>
          <a:solidFill>
            <a:srgbClr val="DBEAFE">
              <a:alpha val="82000"/>
            </a:srgbClr>
          </a:solidFill>
          <a:ln w="12700">
            <a:solidFill>
              <a:srgbClr val="DBEAFE">
                <a:alpha val="0"/>
              </a:srgbClr>
            </a:solidFill>
            <a:prstDash val="solid"/>
          </a:ln>
        </p:spPr>
      </p:sp>
      <p:sp>
        <p:nvSpPr>
          <p:cNvPr id="4" name="Text 2"/>
          <p:cNvSpPr/>
          <p:nvPr/>
        </p:nvSpPr>
        <p:spPr>
          <a:xfrm>
            <a:off x="502920" y="320040"/>
            <a:ext cx="4389120" cy="256032"/>
          </a:xfrm>
          <a:prstGeom prst="rect">
            <a:avLst/>
          </a:prstGeom>
          <a:noFill/>
          <a:ln/>
        </p:spPr>
        <p:txBody>
          <a:bodyPr wrap="square" rtlCol="0" anchor="ctr"/>
          <a:lstStyle/>
          <a:p>
            <a:pPr indent="0" marL="0">
              <a:buNone/>
            </a:pPr>
            <a:r>
              <a:rPr lang="en-US" sz="900" b="1" dirty="0">
                <a:solidFill>
                  <a:srgbClr val="2563EB"/>
                </a:solidFill>
                <a:latin typeface="Aptos" pitchFamily="34" charset="0"/>
                <a:ea typeface="Aptos" pitchFamily="34" charset="-122"/>
                <a:cs typeface="Aptos" pitchFamily="34" charset="-120"/>
              </a:rPr>
              <a:t>SOLUTION OVERVIEW</a:t>
            </a:r>
            <a:endParaRPr lang="en-US" sz="900" dirty="0"/>
          </a:p>
        </p:txBody>
      </p:sp>
      <p:sp>
        <p:nvSpPr>
          <p:cNvPr id="5" name="Text 3"/>
          <p:cNvSpPr/>
          <p:nvPr/>
        </p:nvSpPr>
        <p:spPr>
          <a:xfrm>
            <a:off x="502920" y="685800"/>
            <a:ext cx="7680960" cy="658368"/>
          </a:xfrm>
          <a:prstGeom prst="rect">
            <a:avLst/>
          </a:prstGeom>
          <a:noFill/>
          <a:ln/>
        </p:spPr>
        <p:txBody>
          <a:bodyPr wrap="square" lIns="0" tIns="0" rIns="0" bIns="0" rtlCol="0" anchor="ctr"/>
          <a:lstStyle/>
          <a:p>
            <a:pPr indent="0" marL="0">
              <a:buNone/>
            </a:pPr>
            <a:r>
              <a:rPr lang="en-US" sz="2900" b="1" dirty="0">
                <a:solidFill>
                  <a:srgbClr val="0F172A"/>
                </a:solidFill>
                <a:latin typeface="Aptos Display" pitchFamily="34" charset="0"/>
                <a:ea typeface="Aptos Display" pitchFamily="34" charset="-122"/>
                <a:cs typeface="Aptos Display" pitchFamily="34" charset="-120"/>
              </a:rPr>
              <a:t>A focused CRUD dashboard for interview preparation</a:t>
            </a:r>
            <a:endParaRPr lang="en-US" sz="2900" dirty="0"/>
          </a:p>
        </p:txBody>
      </p:sp>
      <p:sp>
        <p:nvSpPr>
          <p:cNvPr id="6" name="Text 4"/>
          <p:cNvSpPr/>
          <p:nvPr/>
        </p:nvSpPr>
        <p:spPr>
          <a:xfrm>
            <a:off x="530352" y="1353312"/>
            <a:ext cx="7040880" cy="411480"/>
          </a:xfrm>
          <a:prstGeom prst="rect">
            <a:avLst/>
          </a:prstGeom>
          <a:noFill/>
          <a:ln/>
        </p:spPr>
        <p:txBody>
          <a:bodyPr wrap="square" lIns="0" tIns="0" rIns="0" bIns="0" rtlCol="0" anchor="ctr"/>
          <a:lstStyle/>
          <a:p>
            <a:pPr indent="0" marL="0">
              <a:buNone/>
            </a:pPr>
            <a:r>
              <a:rPr lang="en-US" sz="1250" dirty="0">
                <a:solidFill>
                  <a:srgbClr val="475569"/>
                </a:solidFill>
              </a:rPr>
              <a:t>The app keeps the feature set tight: track, filter, revise, and demonstrate.</a:t>
            </a:r>
            <a:endParaRPr lang="en-US" sz="1250" dirty="0"/>
          </a:p>
        </p:txBody>
      </p:sp>
      <p:sp>
        <p:nvSpPr>
          <p:cNvPr id="7" name="Shape 5"/>
          <p:cNvSpPr/>
          <p:nvPr/>
        </p:nvSpPr>
        <p:spPr>
          <a:xfrm>
            <a:off x="685800" y="1874520"/>
            <a:ext cx="3749040" cy="3566160"/>
          </a:xfrm>
          <a:prstGeom prst="roundRect">
            <a:avLst>
              <a:gd name="adj" fmla="val 2051"/>
            </a:avLst>
          </a:prstGeom>
          <a:solidFill>
            <a:srgbClr val="0F172A"/>
          </a:solidFill>
          <a:ln w="12700">
            <a:solidFill>
              <a:srgbClr val="0F172A"/>
            </a:solidFill>
            <a:prstDash val="solid"/>
          </a:ln>
        </p:spPr>
      </p:sp>
      <p:sp>
        <p:nvSpPr>
          <p:cNvPr id="8" name="Text 6"/>
          <p:cNvSpPr/>
          <p:nvPr/>
        </p:nvSpPr>
        <p:spPr>
          <a:xfrm>
            <a:off x="960120" y="2148840"/>
            <a:ext cx="3200400" cy="320040"/>
          </a:xfrm>
          <a:prstGeom prst="rect">
            <a:avLst/>
          </a:prstGeom>
          <a:noFill/>
          <a:ln/>
        </p:spPr>
        <p:txBody>
          <a:bodyPr wrap="square" lIns="0" tIns="0" rIns="0" bIns="0" rtlCol="0" anchor="ctr"/>
          <a:lstStyle/>
          <a:p>
            <a:pPr indent="0" marL="0">
              <a:buNone/>
            </a:pPr>
            <a:r>
              <a:rPr lang="en-US" sz="1700" b="1" dirty="0">
                <a:solidFill>
                  <a:srgbClr val="FFFFFF"/>
                </a:solidFill>
              </a:rPr>
              <a:t>Core User Actions</a:t>
            </a:r>
            <a:endParaRPr lang="en-US" sz="1700" dirty="0"/>
          </a:p>
        </p:txBody>
      </p:sp>
      <p:sp>
        <p:nvSpPr>
          <p:cNvPr id="9" name="Text 7"/>
          <p:cNvSpPr/>
          <p:nvPr/>
        </p:nvSpPr>
        <p:spPr>
          <a:xfrm>
            <a:off x="960120" y="2743200"/>
            <a:ext cx="320040" cy="182880"/>
          </a:xfrm>
          <a:prstGeom prst="rect">
            <a:avLst/>
          </a:prstGeom>
          <a:noFill/>
          <a:ln/>
        </p:spPr>
        <p:txBody>
          <a:bodyPr wrap="square" lIns="0" tIns="0" rIns="0" bIns="0" rtlCol="0" anchor="ctr"/>
          <a:lstStyle/>
          <a:p>
            <a:pPr indent="0" marL="0">
              <a:buNone/>
            </a:pPr>
            <a:r>
              <a:rPr lang="en-US" sz="800" b="1" dirty="0">
                <a:solidFill>
                  <a:srgbClr val="93C5FD"/>
                </a:solidFill>
              </a:rPr>
              <a:t>01</a:t>
            </a:r>
            <a:endParaRPr lang="en-US" sz="800" dirty="0"/>
          </a:p>
        </p:txBody>
      </p:sp>
      <p:sp>
        <p:nvSpPr>
          <p:cNvPr id="10" name="Text 8"/>
          <p:cNvSpPr/>
          <p:nvPr/>
        </p:nvSpPr>
        <p:spPr>
          <a:xfrm>
            <a:off x="1353312" y="2688336"/>
            <a:ext cx="2651760" cy="228600"/>
          </a:xfrm>
          <a:prstGeom prst="rect">
            <a:avLst/>
          </a:prstGeom>
          <a:noFill/>
          <a:ln/>
        </p:spPr>
        <p:txBody>
          <a:bodyPr wrap="square" lIns="0" tIns="0" rIns="0" bIns="0" rtlCol="0" anchor="ctr"/>
          <a:lstStyle/>
          <a:p>
            <a:pPr indent="0" marL="0">
              <a:buNone/>
            </a:pPr>
            <a:r>
              <a:rPr lang="en-US" sz="1220" dirty="0">
                <a:solidFill>
                  <a:srgbClr val="FFFFFF"/>
                </a:solidFill>
              </a:rPr>
              <a:t>Add problem</a:t>
            </a:r>
            <a:endParaRPr lang="en-US" sz="1220" dirty="0"/>
          </a:p>
        </p:txBody>
      </p:sp>
      <p:sp>
        <p:nvSpPr>
          <p:cNvPr id="11" name="Text 9"/>
          <p:cNvSpPr/>
          <p:nvPr/>
        </p:nvSpPr>
        <p:spPr>
          <a:xfrm>
            <a:off x="960120" y="3163824"/>
            <a:ext cx="320040" cy="182880"/>
          </a:xfrm>
          <a:prstGeom prst="rect">
            <a:avLst/>
          </a:prstGeom>
          <a:noFill/>
          <a:ln/>
        </p:spPr>
        <p:txBody>
          <a:bodyPr wrap="square" lIns="0" tIns="0" rIns="0" bIns="0" rtlCol="0" anchor="ctr"/>
          <a:lstStyle/>
          <a:p>
            <a:pPr indent="0" marL="0">
              <a:buNone/>
            </a:pPr>
            <a:r>
              <a:rPr lang="en-US" sz="800" b="1" dirty="0">
                <a:solidFill>
                  <a:srgbClr val="93C5FD"/>
                </a:solidFill>
              </a:rPr>
              <a:t>02</a:t>
            </a:r>
            <a:endParaRPr lang="en-US" sz="800" dirty="0"/>
          </a:p>
        </p:txBody>
      </p:sp>
      <p:sp>
        <p:nvSpPr>
          <p:cNvPr id="12" name="Text 10"/>
          <p:cNvSpPr/>
          <p:nvPr/>
        </p:nvSpPr>
        <p:spPr>
          <a:xfrm>
            <a:off x="1353312" y="3108960"/>
            <a:ext cx="2651760" cy="228600"/>
          </a:xfrm>
          <a:prstGeom prst="rect">
            <a:avLst/>
          </a:prstGeom>
          <a:noFill/>
          <a:ln/>
        </p:spPr>
        <p:txBody>
          <a:bodyPr wrap="square" lIns="0" tIns="0" rIns="0" bIns="0" rtlCol="0" anchor="ctr"/>
          <a:lstStyle/>
          <a:p>
            <a:pPr indent="0" marL="0">
              <a:buNone/>
            </a:pPr>
            <a:r>
              <a:rPr lang="en-US" sz="1220" dirty="0">
                <a:solidFill>
                  <a:srgbClr val="FFFFFF"/>
                </a:solidFill>
              </a:rPr>
              <a:t>Search by title</a:t>
            </a:r>
            <a:endParaRPr lang="en-US" sz="1220" dirty="0"/>
          </a:p>
        </p:txBody>
      </p:sp>
      <p:sp>
        <p:nvSpPr>
          <p:cNvPr id="13" name="Text 11"/>
          <p:cNvSpPr/>
          <p:nvPr/>
        </p:nvSpPr>
        <p:spPr>
          <a:xfrm>
            <a:off x="960120" y="3584448"/>
            <a:ext cx="320040" cy="182880"/>
          </a:xfrm>
          <a:prstGeom prst="rect">
            <a:avLst/>
          </a:prstGeom>
          <a:noFill/>
          <a:ln/>
        </p:spPr>
        <p:txBody>
          <a:bodyPr wrap="square" lIns="0" tIns="0" rIns="0" bIns="0" rtlCol="0" anchor="ctr"/>
          <a:lstStyle/>
          <a:p>
            <a:pPr indent="0" marL="0">
              <a:buNone/>
            </a:pPr>
            <a:r>
              <a:rPr lang="en-US" sz="800" b="1" dirty="0">
                <a:solidFill>
                  <a:srgbClr val="93C5FD"/>
                </a:solidFill>
              </a:rPr>
              <a:t>03</a:t>
            </a:r>
            <a:endParaRPr lang="en-US" sz="800" dirty="0"/>
          </a:p>
        </p:txBody>
      </p:sp>
      <p:sp>
        <p:nvSpPr>
          <p:cNvPr id="14" name="Text 12"/>
          <p:cNvSpPr/>
          <p:nvPr/>
        </p:nvSpPr>
        <p:spPr>
          <a:xfrm>
            <a:off x="1353312" y="3529584"/>
            <a:ext cx="2651760" cy="228600"/>
          </a:xfrm>
          <a:prstGeom prst="rect">
            <a:avLst/>
          </a:prstGeom>
          <a:noFill/>
          <a:ln/>
        </p:spPr>
        <p:txBody>
          <a:bodyPr wrap="square" lIns="0" tIns="0" rIns="0" bIns="0" rtlCol="0" anchor="ctr"/>
          <a:lstStyle/>
          <a:p>
            <a:pPr indent="0" marL="0">
              <a:buNone/>
            </a:pPr>
            <a:r>
              <a:rPr lang="en-US" sz="1220" dirty="0">
                <a:solidFill>
                  <a:srgbClr val="FFFFFF"/>
                </a:solidFill>
              </a:rPr>
              <a:t>Filter by difficulty/topic</a:t>
            </a:r>
            <a:endParaRPr lang="en-US" sz="1220" dirty="0"/>
          </a:p>
        </p:txBody>
      </p:sp>
      <p:sp>
        <p:nvSpPr>
          <p:cNvPr id="15" name="Text 13"/>
          <p:cNvSpPr/>
          <p:nvPr/>
        </p:nvSpPr>
        <p:spPr>
          <a:xfrm>
            <a:off x="960120" y="4005072"/>
            <a:ext cx="320040" cy="182880"/>
          </a:xfrm>
          <a:prstGeom prst="rect">
            <a:avLst/>
          </a:prstGeom>
          <a:noFill/>
          <a:ln/>
        </p:spPr>
        <p:txBody>
          <a:bodyPr wrap="square" lIns="0" tIns="0" rIns="0" bIns="0" rtlCol="0" anchor="ctr"/>
          <a:lstStyle/>
          <a:p>
            <a:pPr indent="0" marL="0">
              <a:buNone/>
            </a:pPr>
            <a:r>
              <a:rPr lang="en-US" sz="800" b="1" dirty="0">
                <a:solidFill>
                  <a:srgbClr val="93C5FD"/>
                </a:solidFill>
              </a:rPr>
              <a:t>04</a:t>
            </a:r>
            <a:endParaRPr lang="en-US" sz="800" dirty="0"/>
          </a:p>
        </p:txBody>
      </p:sp>
      <p:sp>
        <p:nvSpPr>
          <p:cNvPr id="16" name="Text 14"/>
          <p:cNvSpPr/>
          <p:nvPr/>
        </p:nvSpPr>
        <p:spPr>
          <a:xfrm>
            <a:off x="1353312" y="3950208"/>
            <a:ext cx="2651760" cy="228600"/>
          </a:xfrm>
          <a:prstGeom prst="rect">
            <a:avLst/>
          </a:prstGeom>
          <a:noFill/>
          <a:ln/>
        </p:spPr>
        <p:txBody>
          <a:bodyPr wrap="square" lIns="0" tIns="0" rIns="0" bIns="0" rtlCol="0" anchor="ctr"/>
          <a:lstStyle/>
          <a:p>
            <a:pPr indent="0" marL="0">
              <a:buNone/>
            </a:pPr>
            <a:r>
              <a:rPr lang="en-US" sz="1220" dirty="0">
                <a:solidFill>
                  <a:srgbClr val="FFFFFF"/>
                </a:solidFill>
              </a:rPr>
              <a:t>Update status</a:t>
            </a:r>
            <a:endParaRPr lang="en-US" sz="1220" dirty="0"/>
          </a:p>
        </p:txBody>
      </p:sp>
      <p:sp>
        <p:nvSpPr>
          <p:cNvPr id="17" name="Text 15"/>
          <p:cNvSpPr/>
          <p:nvPr/>
        </p:nvSpPr>
        <p:spPr>
          <a:xfrm>
            <a:off x="960120" y="4425696"/>
            <a:ext cx="320040" cy="182880"/>
          </a:xfrm>
          <a:prstGeom prst="rect">
            <a:avLst/>
          </a:prstGeom>
          <a:noFill/>
          <a:ln/>
        </p:spPr>
        <p:txBody>
          <a:bodyPr wrap="square" lIns="0" tIns="0" rIns="0" bIns="0" rtlCol="0" anchor="ctr"/>
          <a:lstStyle/>
          <a:p>
            <a:pPr indent="0" marL="0">
              <a:buNone/>
            </a:pPr>
            <a:r>
              <a:rPr lang="en-US" sz="800" b="1" dirty="0">
                <a:solidFill>
                  <a:srgbClr val="93C5FD"/>
                </a:solidFill>
              </a:rPr>
              <a:t>05</a:t>
            </a:r>
            <a:endParaRPr lang="en-US" sz="800" dirty="0"/>
          </a:p>
        </p:txBody>
      </p:sp>
      <p:sp>
        <p:nvSpPr>
          <p:cNvPr id="18" name="Text 16"/>
          <p:cNvSpPr/>
          <p:nvPr/>
        </p:nvSpPr>
        <p:spPr>
          <a:xfrm>
            <a:off x="1353312" y="4370832"/>
            <a:ext cx="2651760" cy="228600"/>
          </a:xfrm>
          <a:prstGeom prst="rect">
            <a:avLst/>
          </a:prstGeom>
          <a:noFill/>
          <a:ln/>
        </p:spPr>
        <p:txBody>
          <a:bodyPr wrap="square" lIns="0" tIns="0" rIns="0" bIns="0" rtlCol="0" anchor="ctr"/>
          <a:lstStyle/>
          <a:p>
            <a:pPr indent="0" marL="0">
              <a:buNone/>
            </a:pPr>
            <a:r>
              <a:rPr lang="en-US" sz="1220" dirty="0">
                <a:solidFill>
                  <a:srgbClr val="FFFFFF"/>
                </a:solidFill>
              </a:rPr>
              <a:t>Delete problem</a:t>
            </a:r>
            <a:endParaRPr lang="en-US" sz="1220" dirty="0"/>
          </a:p>
        </p:txBody>
      </p:sp>
      <p:sp>
        <p:nvSpPr>
          <p:cNvPr id="19" name="Shape 17"/>
          <p:cNvSpPr/>
          <p:nvPr/>
        </p:nvSpPr>
        <p:spPr>
          <a:xfrm>
            <a:off x="4846320" y="1874520"/>
            <a:ext cx="2834640" cy="1325880"/>
          </a:xfrm>
          <a:prstGeom prst="roundRect">
            <a:avLst>
              <a:gd name="adj" fmla="val 5517"/>
            </a:avLst>
          </a:prstGeom>
          <a:solidFill>
            <a:srgbClr val="FFFFFF"/>
          </a:solidFill>
          <a:ln w="12700">
            <a:solidFill>
              <a:srgbClr val="E2E8F0"/>
            </a:solidFill>
            <a:prstDash val="solid"/>
          </a:ln>
          <a:effectLst>
            <a:outerShdw sx="100000" sy="100000" kx="0" ky="0" algn="bl" rotWithShape="0" blurRad="19050" dist="50800" dir="2700000">
              <a:srgbClr val="94A3B8">
                <a:alpha val="16000"/>
              </a:srgbClr>
            </a:outerShdw>
          </a:effectLst>
        </p:spPr>
      </p:sp>
      <p:sp>
        <p:nvSpPr>
          <p:cNvPr id="20" name="Shape 18"/>
          <p:cNvSpPr/>
          <p:nvPr/>
        </p:nvSpPr>
        <p:spPr>
          <a:xfrm>
            <a:off x="4846320" y="1874520"/>
            <a:ext cx="73152" cy="1325880"/>
          </a:xfrm>
          <a:prstGeom prst="rect">
            <a:avLst/>
          </a:prstGeom>
          <a:solidFill>
            <a:srgbClr val="2563EB"/>
          </a:solidFill>
          <a:ln w="12700">
            <a:solidFill>
              <a:srgbClr val="2563EB"/>
            </a:solidFill>
            <a:prstDash val="solid"/>
          </a:ln>
        </p:spPr>
      </p:sp>
      <p:sp>
        <p:nvSpPr>
          <p:cNvPr id="21" name="Text 19"/>
          <p:cNvSpPr/>
          <p:nvPr/>
        </p:nvSpPr>
        <p:spPr>
          <a:xfrm>
            <a:off x="5047488" y="2057400"/>
            <a:ext cx="2468880" cy="256032"/>
          </a:xfrm>
          <a:prstGeom prst="rect">
            <a:avLst/>
          </a:prstGeom>
          <a:noFill/>
          <a:ln/>
        </p:spPr>
        <p:txBody>
          <a:bodyPr wrap="square" lIns="0" tIns="0" rIns="0" bIns="0" rtlCol="0" anchor="ctr"/>
          <a:lstStyle/>
          <a:p>
            <a:pPr indent="0" marL="0">
              <a:buNone/>
            </a:pPr>
            <a:r>
              <a:rPr lang="en-US" sz="1000" b="1" dirty="0">
                <a:solidFill>
                  <a:srgbClr val="2563EB"/>
                </a:solidFill>
              </a:rPr>
              <a:t>Frontend</a:t>
            </a:r>
            <a:endParaRPr lang="en-US" sz="1000" dirty="0"/>
          </a:p>
        </p:txBody>
      </p:sp>
      <p:sp>
        <p:nvSpPr>
          <p:cNvPr id="22" name="Text 20"/>
          <p:cNvSpPr/>
          <p:nvPr/>
        </p:nvSpPr>
        <p:spPr>
          <a:xfrm>
            <a:off x="5047488" y="2404872"/>
            <a:ext cx="2423160" cy="685800"/>
          </a:xfrm>
          <a:prstGeom prst="rect">
            <a:avLst/>
          </a:prstGeom>
          <a:noFill/>
          <a:ln/>
        </p:spPr>
        <p:txBody>
          <a:bodyPr wrap="square" lIns="254" tIns="254" rIns="254" bIns="254" rtlCol="0" anchor="ctr">
            <a:normAutofit/>
          </a:bodyPr>
          <a:lstStyle/>
          <a:p>
            <a:pPr indent="0" marL="0">
              <a:buNone/>
            </a:pPr>
            <a:r>
              <a:rPr lang="en-US" sz="1300" dirty="0">
                <a:solidFill>
                  <a:srgbClr val="0F172A"/>
                </a:solidFill>
              </a:rPr>
              <a:t>React + TypeScript + Vite with component-level UI boundaries.</a:t>
            </a:r>
            <a:endParaRPr lang="en-US" sz="1300" dirty="0"/>
          </a:p>
        </p:txBody>
      </p:sp>
      <p:sp>
        <p:nvSpPr>
          <p:cNvPr id="23" name="Shape 21"/>
          <p:cNvSpPr/>
          <p:nvPr/>
        </p:nvSpPr>
        <p:spPr>
          <a:xfrm>
            <a:off x="8001000" y="1874520"/>
            <a:ext cx="2834640" cy="1325880"/>
          </a:xfrm>
          <a:prstGeom prst="roundRect">
            <a:avLst>
              <a:gd name="adj" fmla="val 5517"/>
            </a:avLst>
          </a:prstGeom>
          <a:solidFill>
            <a:srgbClr val="FFFFFF"/>
          </a:solidFill>
          <a:ln w="12700">
            <a:solidFill>
              <a:srgbClr val="E2E8F0"/>
            </a:solidFill>
            <a:prstDash val="solid"/>
          </a:ln>
          <a:effectLst>
            <a:outerShdw sx="100000" sy="100000" kx="0" ky="0" algn="bl" rotWithShape="0" blurRad="19050" dist="50800" dir="2700000">
              <a:srgbClr val="94A3B8">
                <a:alpha val="16000"/>
              </a:srgbClr>
            </a:outerShdw>
          </a:effectLst>
        </p:spPr>
      </p:sp>
      <p:sp>
        <p:nvSpPr>
          <p:cNvPr id="24" name="Shape 22"/>
          <p:cNvSpPr/>
          <p:nvPr/>
        </p:nvSpPr>
        <p:spPr>
          <a:xfrm>
            <a:off x="8001000" y="1874520"/>
            <a:ext cx="73152" cy="1325880"/>
          </a:xfrm>
          <a:prstGeom prst="rect">
            <a:avLst/>
          </a:prstGeom>
          <a:solidFill>
            <a:srgbClr val="16A34A"/>
          </a:solidFill>
          <a:ln w="12700">
            <a:solidFill>
              <a:srgbClr val="16A34A"/>
            </a:solidFill>
            <a:prstDash val="solid"/>
          </a:ln>
        </p:spPr>
      </p:sp>
      <p:sp>
        <p:nvSpPr>
          <p:cNvPr id="25" name="Text 23"/>
          <p:cNvSpPr/>
          <p:nvPr/>
        </p:nvSpPr>
        <p:spPr>
          <a:xfrm>
            <a:off x="8202168" y="2057400"/>
            <a:ext cx="2468880" cy="256032"/>
          </a:xfrm>
          <a:prstGeom prst="rect">
            <a:avLst/>
          </a:prstGeom>
          <a:noFill/>
          <a:ln/>
        </p:spPr>
        <p:txBody>
          <a:bodyPr wrap="square" lIns="0" tIns="0" rIns="0" bIns="0" rtlCol="0" anchor="ctr"/>
          <a:lstStyle/>
          <a:p>
            <a:pPr indent="0" marL="0">
              <a:buNone/>
            </a:pPr>
            <a:r>
              <a:rPr lang="en-US" sz="1000" b="1" dirty="0">
                <a:solidFill>
                  <a:srgbClr val="16A34A"/>
                </a:solidFill>
              </a:rPr>
              <a:t>Backend</a:t>
            </a:r>
            <a:endParaRPr lang="en-US" sz="1000" dirty="0"/>
          </a:p>
        </p:txBody>
      </p:sp>
      <p:sp>
        <p:nvSpPr>
          <p:cNvPr id="26" name="Text 24"/>
          <p:cNvSpPr/>
          <p:nvPr/>
        </p:nvSpPr>
        <p:spPr>
          <a:xfrm>
            <a:off x="8202168" y="2404872"/>
            <a:ext cx="2423160" cy="685800"/>
          </a:xfrm>
          <a:prstGeom prst="rect">
            <a:avLst/>
          </a:prstGeom>
          <a:noFill/>
          <a:ln/>
        </p:spPr>
        <p:txBody>
          <a:bodyPr wrap="square" lIns="254" tIns="254" rIns="254" bIns="254" rtlCol="0" anchor="ctr">
            <a:normAutofit/>
          </a:bodyPr>
          <a:lstStyle/>
          <a:p>
            <a:pPr indent="0" marL="0">
              <a:buNone/>
            </a:pPr>
            <a:r>
              <a:rPr lang="en-US" sz="1300" dirty="0">
                <a:solidFill>
                  <a:srgbClr val="0F172A"/>
                </a:solidFill>
              </a:rPr>
              <a:t>Node.js + Express + TypeScript REST API with validation.</a:t>
            </a:r>
            <a:endParaRPr lang="en-US" sz="1300" dirty="0"/>
          </a:p>
        </p:txBody>
      </p:sp>
      <p:sp>
        <p:nvSpPr>
          <p:cNvPr id="27" name="Shape 25"/>
          <p:cNvSpPr/>
          <p:nvPr/>
        </p:nvSpPr>
        <p:spPr>
          <a:xfrm>
            <a:off x="4846320" y="3703320"/>
            <a:ext cx="2834640" cy="1325880"/>
          </a:xfrm>
          <a:prstGeom prst="roundRect">
            <a:avLst>
              <a:gd name="adj" fmla="val 5517"/>
            </a:avLst>
          </a:prstGeom>
          <a:solidFill>
            <a:srgbClr val="FFFFFF"/>
          </a:solidFill>
          <a:ln w="12700">
            <a:solidFill>
              <a:srgbClr val="E2E8F0"/>
            </a:solidFill>
            <a:prstDash val="solid"/>
          </a:ln>
          <a:effectLst>
            <a:outerShdw sx="100000" sy="100000" kx="0" ky="0" algn="bl" rotWithShape="0" blurRad="19050" dist="50800" dir="2700000">
              <a:srgbClr val="94A3B8">
                <a:alpha val="16000"/>
              </a:srgbClr>
            </a:outerShdw>
          </a:effectLst>
        </p:spPr>
      </p:sp>
      <p:sp>
        <p:nvSpPr>
          <p:cNvPr id="28" name="Shape 26"/>
          <p:cNvSpPr/>
          <p:nvPr/>
        </p:nvSpPr>
        <p:spPr>
          <a:xfrm>
            <a:off x="4846320" y="3703320"/>
            <a:ext cx="73152" cy="1325880"/>
          </a:xfrm>
          <a:prstGeom prst="rect">
            <a:avLst/>
          </a:prstGeom>
          <a:solidFill>
            <a:srgbClr val="F59E0B"/>
          </a:solidFill>
          <a:ln w="12700">
            <a:solidFill>
              <a:srgbClr val="F59E0B"/>
            </a:solidFill>
            <a:prstDash val="solid"/>
          </a:ln>
        </p:spPr>
      </p:sp>
      <p:sp>
        <p:nvSpPr>
          <p:cNvPr id="29" name="Text 27"/>
          <p:cNvSpPr/>
          <p:nvPr/>
        </p:nvSpPr>
        <p:spPr>
          <a:xfrm>
            <a:off x="5047488" y="3886200"/>
            <a:ext cx="2468880" cy="256032"/>
          </a:xfrm>
          <a:prstGeom prst="rect">
            <a:avLst/>
          </a:prstGeom>
          <a:noFill/>
          <a:ln/>
        </p:spPr>
        <p:txBody>
          <a:bodyPr wrap="square" lIns="0" tIns="0" rIns="0" bIns="0" rtlCol="0" anchor="ctr"/>
          <a:lstStyle/>
          <a:p>
            <a:pPr indent="0" marL="0">
              <a:buNone/>
            </a:pPr>
            <a:r>
              <a:rPr lang="en-US" sz="1000" b="1" dirty="0">
                <a:solidFill>
                  <a:srgbClr val="F59E0B"/>
                </a:solidFill>
              </a:rPr>
              <a:t>Database</a:t>
            </a:r>
            <a:endParaRPr lang="en-US" sz="1000" dirty="0"/>
          </a:p>
        </p:txBody>
      </p:sp>
      <p:sp>
        <p:nvSpPr>
          <p:cNvPr id="30" name="Text 28"/>
          <p:cNvSpPr/>
          <p:nvPr/>
        </p:nvSpPr>
        <p:spPr>
          <a:xfrm>
            <a:off x="5047488" y="4233672"/>
            <a:ext cx="2423160" cy="685800"/>
          </a:xfrm>
          <a:prstGeom prst="rect">
            <a:avLst/>
          </a:prstGeom>
          <a:noFill/>
          <a:ln/>
        </p:spPr>
        <p:txBody>
          <a:bodyPr wrap="square" lIns="254" tIns="254" rIns="254" bIns="254" rtlCol="0" anchor="ctr">
            <a:normAutofit/>
          </a:bodyPr>
          <a:lstStyle/>
          <a:p>
            <a:pPr indent="0" marL="0">
              <a:buNone/>
            </a:pPr>
            <a:r>
              <a:rPr lang="en-US" sz="1300" dirty="0">
                <a:solidFill>
                  <a:srgbClr val="0F172A"/>
                </a:solidFill>
              </a:rPr>
              <a:t>PostgreSQL stores the source of truth in one focused table.</a:t>
            </a:r>
            <a:endParaRPr lang="en-US" sz="1300" dirty="0"/>
          </a:p>
        </p:txBody>
      </p:sp>
      <p:sp>
        <p:nvSpPr>
          <p:cNvPr id="31" name="Shape 29"/>
          <p:cNvSpPr/>
          <p:nvPr/>
        </p:nvSpPr>
        <p:spPr>
          <a:xfrm>
            <a:off x="8001000" y="3703320"/>
            <a:ext cx="2834640" cy="1325880"/>
          </a:xfrm>
          <a:prstGeom prst="roundRect">
            <a:avLst>
              <a:gd name="adj" fmla="val 5517"/>
            </a:avLst>
          </a:prstGeom>
          <a:solidFill>
            <a:srgbClr val="FFFFFF"/>
          </a:solidFill>
          <a:ln w="12700">
            <a:solidFill>
              <a:srgbClr val="E2E8F0"/>
            </a:solidFill>
            <a:prstDash val="solid"/>
          </a:ln>
          <a:effectLst>
            <a:outerShdw sx="100000" sy="100000" kx="0" ky="0" algn="bl" rotWithShape="0" blurRad="19050" dist="50800" dir="2700000">
              <a:srgbClr val="94A3B8">
                <a:alpha val="16000"/>
              </a:srgbClr>
            </a:outerShdw>
          </a:effectLst>
        </p:spPr>
      </p:sp>
      <p:sp>
        <p:nvSpPr>
          <p:cNvPr id="32" name="Shape 30"/>
          <p:cNvSpPr/>
          <p:nvPr/>
        </p:nvSpPr>
        <p:spPr>
          <a:xfrm>
            <a:off x="8001000" y="3703320"/>
            <a:ext cx="73152" cy="1325880"/>
          </a:xfrm>
          <a:prstGeom prst="rect">
            <a:avLst/>
          </a:prstGeom>
          <a:solidFill>
            <a:srgbClr val="E11D48"/>
          </a:solidFill>
          <a:ln w="12700">
            <a:solidFill>
              <a:srgbClr val="E11D48"/>
            </a:solidFill>
            <a:prstDash val="solid"/>
          </a:ln>
        </p:spPr>
      </p:sp>
      <p:sp>
        <p:nvSpPr>
          <p:cNvPr id="33" name="Text 31"/>
          <p:cNvSpPr/>
          <p:nvPr/>
        </p:nvSpPr>
        <p:spPr>
          <a:xfrm>
            <a:off x="8202168" y="3886200"/>
            <a:ext cx="2468880" cy="256032"/>
          </a:xfrm>
          <a:prstGeom prst="rect">
            <a:avLst/>
          </a:prstGeom>
          <a:noFill/>
          <a:ln/>
        </p:spPr>
        <p:txBody>
          <a:bodyPr wrap="square" lIns="0" tIns="0" rIns="0" bIns="0" rtlCol="0" anchor="ctr"/>
          <a:lstStyle/>
          <a:p>
            <a:pPr indent="0" marL="0">
              <a:buNone/>
            </a:pPr>
            <a:r>
              <a:rPr lang="en-US" sz="1000" b="1" dirty="0">
                <a:solidFill>
                  <a:srgbClr val="E11D48"/>
                </a:solidFill>
              </a:rPr>
              <a:t>Demo Value</a:t>
            </a:r>
            <a:endParaRPr lang="en-US" sz="1000" dirty="0"/>
          </a:p>
        </p:txBody>
      </p:sp>
      <p:sp>
        <p:nvSpPr>
          <p:cNvPr id="34" name="Text 32"/>
          <p:cNvSpPr/>
          <p:nvPr/>
        </p:nvSpPr>
        <p:spPr>
          <a:xfrm>
            <a:off x="8202168" y="4233672"/>
            <a:ext cx="2423160" cy="685800"/>
          </a:xfrm>
          <a:prstGeom prst="rect">
            <a:avLst/>
          </a:prstGeom>
          <a:noFill/>
          <a:ln/>
        </p:spPr>
        <p:txBody>
          <a:bodyPr wrap="square" lIns="254" tIns="254" rIns="254" bIns="254" rtlCol="0" anchor="ctr">
            <a:normAutofit/>
          </a:bodyPr>
          <a:lstStyle/>
          <a:p>
            <a:pPr indent="0" marL="0">
              <a:buNone/>
            </a:pPr>
            <a:r>
              <a:rPr lang="en-US" sz="1300" dirty="0">
                <a:solidFill>
                  <a:srgbClr val="0F172A"/>
                </a:solidFill>
              </a:rPr>
              <a:t>Small enough to explain, complete enough to show real data flow.</a:t>
            </a:r>
            <a:endParaRPr lang="en-US" sz="1300" dirty="0"/>
          </a:p>
        </p:txBody>
      </p:sp>
      <p:sp>
        <p:nvSpPr>
          <p:cNvPr id="35" name="Text 33"/>
          <p:cNvSpPr/>
          <p:nvPr/>
        </p:nvSpPr>
        <p:spPr>
          <a:xfrm>
            <a:off x="502920" y="6510528"/>
            <a:ext cx="3200400" cy="182880"/>
          </a:xfrm>
          <a:prstGeom prst="rect">
            <a:avLst/>
          </a:prstGeom>
          <a:noFill/>
          <a:ln/>
        </p:spPr>
        <p:txBody>
          <a:bodyPr wrap="square" lIns="0" tIns="0" rIns="0" bIns="0" rtlCol="0" anchor="ctr"/>
          <a:lstStyle/>
          <a:p>
            <a:pPr indent="0" marL="0">
              <a:buNone/>
            </a:pPr>
            <a:r>
              <a:rPr lang="en-US" sz="750" dirty="0">
                <a:solidFill>
                  <a:srgbClr val="64748B"/>
                </a:solidFill>
              </a:rPr>
              <a:t>Interview Question Tracker  |  2/5</a:t>
            </a:r>
            <a:endParaRPr lang="en-US" sz="750" dirty="0"/>
          </a:p>
        </p:txBody>
      </p:sp>
      <p:sp>
        <p:nvSpPr>
          <p:cNvPr id="36" name="Shape 34"/>
          <p:cNvSpPr/>
          <p:nvPr/>
        </p:nvSpPr>
        <p:spPr>
          <a:xfrm>
            <a:off x="9875520" y="6601968"/>
            <a:ext cx="1737360" cy="0"/>
          </a:xfrm>
          <a:prstGeom prst="line">
            <a:avLst/>
          </a:prstGeom>
          <a:noFill/>
          <a:ln w="12700">
            <a:solidFill>
              <a:srgbClr val="2563EB"/>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rot="2100000">
            <a:off x="9646920" y="-685800"/>
            <a:ext cx="3474720" cy="3474720"/>
          </a:xfrm>
          <a:prstGeom prst="arc">
            <a:avLst/>
          </a:prstGeom>
          <a:solidFill>
            <a:srgbClr val="DBEAFE">
              <a:alpha val="82000"/>
            </a:srgbClr>
          </a:solidFill>
          <a:ln w="12700">
            <a:solidFill>
              <a:srgbClr val="DBEAFE">
                <a:alpha val="0"/>
              </a:srgbClr>
            </a:solidFill>
            <a:prstDash val="solid"/>
          </a:ln>
        </p:spPr>
      </p:sp>
      <p:sp>
        <p:nvSpPr>
          <p:cNvPr id="4" name="Text 2"/>
          <p:cNvSpPr/>
          <p:nvPr/>
        </p:nvSpPr>
        <p:spPr>
          <a:xfrm>
            <a:off x="502920" y="320040"/>
            <a:ext cx="4389120" cy="256032"/>
          </a:xfrm>
          <a:prstGeom prst="rect">
            <a:avLst/>
          </a:prstGeom>
          <a:noFill/>
          <a:ln/>
        </p:spPr>
        <p:txBody>
          <a:bodyPr wrap="square" rtlCol="0" anchor="ctr"/>
          <a:lstStyle/>
          <a:p>
            <a:pPr indent="0" marL="0">
              <a:buNone/>
            </a:pPr>
            <a:r>
              <a:rPr lang="en-US" sz="900" b="1" dirty="0">
                <a:solidFill>
                  <a:srgbClr val="2563EB"/>
                </a:solidFill>
                <a:latin typeface="Aptos" pitchFamily="34" charset="0"/>
                <a:ea typeface="Aptos" pitchFamily="34" charset="-122"/>
                <a:cs typeface="Aptos" pitchFamily="34" charset="-120"/>
              </a:rPr>
              <a:t>SYSTEM ARCHITECTURE</a:t>
            </a:r>
            <a:endParaRPr lang="en-US" sz="900" dirty="0"/>
          </a:p>
        </p:txBody>
      </p:sp>
      <p:sp>
        <p:nvSpPr>
          <p:cNvPr id="5" name="Text 3"/>
          <p:cNvSpPr/>
          <p:nvPr/>
        </p:nvSpPr>
        <p:spPr>
          <a:xfrm>
            <a:off x="502920" y="685800"/>
            <a:ext cx="7680960" cy="658368"/>
          </a:xfrm>
          <a:prstGeom prst="rect">
            <a:avLst/>
          </a:prstGeom>
          <a:noFill/>
          <a:ln/>
        </p:spPr>
        <p:txBody>
          <a:bodyPr wrap="square" lIns="0" tIns="0" rIns="0" bIns="0" rtlCol="0" anchor="ctr"/>
          <a:lstStyle/>
          <a:p>
            <a:pPr indent="0" marL="0">
              <a:buNone/>
            </a:pPr>
            <a:r>
              <a:rPr lang="en-US" sz="2900" b="1" dirty="0">
                <a:solidFill>
                  <a:srgbClr val="0F172A"/>
                </a:solidFill>
                <a:latin typeface="Aptos Display" pitchFamily="34" charset="0"/>
                <a:ea typeface="Aptos Display" pitchFamily="34" charset="-122"/>
                <a:cs typeface="Aptos Display" pitchFamily="34" charset="-120"/>
              </a:rPr>
              <a:t>Clean separation between UI, API, service layer, and database</a:t>
            </a:r>
            <a:endParaRPr lang="en-US" sz="2900" dirty="0"/>
          </a:p>
        </p:txBody>
      </p:sp>
      <p:sp>
        <p:nvSpPr>
          <p:cNvPr id="6" name="Text 4"/>
          <p:cNvSpPr/>
          <p:nvPr/>
        </p:nvSpPr>
        <p:spPr>
          <a:xfrm>
            <a:off x="530352" y="1353312"/>
            <a:ext cx="7040880" cy="411480"/>
          </a:xfrm>
          <a:prstGeom prst="rect">
            <a:avLst/>
          </a:prstGeom>
          <a:noFill/>
          <a:ln/>
        </p:spPr>
        <p:txBody>
          <a:bodyPr wrap="square" lIns="0" tIns="0" rIns="0" bIns="0" rtlCol="0" anchor="ctr"/>
          <a:lstStyle/>
          <a:p>
            <a:pPr indent="0" marL="0">
              <a:buNone/>
            </a:pPr>
            <a:r>
              <a:rPr lang="en-US" sz="1250" dirty="0">
                <a:solidFill>
                  <a:srgbClr val="475569"/>
                </a:solidFill>
              </a:rPr>
              <a:t>Each layer has one job, and each layer communicates through a narrow contract.</a:t>
            </a:r>
            <a:endParaRPr lang="en-US" sz="1250" dirty="0"/>
          </a:p>
        </p:txBody>
      </p:sp>
      <p:sp>
        <p:nvSpPr>
          <p:cNvPr id="7" name="Shape 5"/>
          <p:cNvSpPr/>
          <p:nvPr/>
        </p:nvSpPr>
        <p:spPr>
          <a:xfrm>
            <a:off x="731520" y="2103120"/>
            <a:ext cx="1828800" cy="914400"/>
          </a:xfrm>
          <a:prstGeom prst="roundRect">
            <a:avLst>
              <a:gd name="adj" fmla="val 8000"/>
            </a:avLst>
          </a:prstGeom>
          <a:solidFill>
            <a:srgbClr val="FFFFFF"/>
          </a:solidFill>
          <a:ln w="12700">
            <a:solidFill>
              <a:srgbClr val="2563EB"/>
            </a:solidFill>
            <a:prstDash val="solid"/>
          </a:ln>
        </p:spPr>
      </p:sp>
      <p:sp>
        <p:nvSpPr>
          <p:cNvPr id="8" name="Text 6"/>
          <p:cNvSpPr/>
          <p:nvPr/>
        </p:nvSpPr>
        <p:spPr>
          <a:xfrm>
            <a:off x="822960" y="2267712"/>
            <a:ext cx="1645920" cy="228600"/>
          </a:xfrm>
          <a:prstGeom prst="rect">
            <a:avLst/>
          </a:prstGeom>
          <a:noFill/>
          <a:ln/>
        </p:spPr>
        <p:txBody>
          <a:bodyPr wrap="square" lIns="0" tIns="0" rIns="0" bIns="0" rtlCol="0" anchor="ctr"/>
          <a:lstStyle/>
          <a:p>
            <a:pPr algn="ctr" indent="0" marL="0">
              <a:buNone/>
            </a:pPr>
            <a:r>
              <a:rPr lang="en-US" sz="1250" b="1" dirty="0">
                <a:solidFill>
                  <a:srgbClr val="2563EB"/>
                </a:solidFill>
              </a:rPr>
              <a:t>React UI</a:t>
            </a:r>
            <a:endParaRPr lang="en-US" sz="1250" dirty="0"/>
          </a:p>
        </p:txBody>
      </p:sp>
      <p:sp>
        <p:nvSpPr>
          <p:cNvPr id="9" name="Text 7"/>
          <p:cNvSpPr/>
          <p:nvPr/>
        </p:nvSpPr>
        <p:spPr>
          <a:xfrm>
            <a:off x="850392" y="2578608"/>
            <a:ext cx="1591056" cy="256032"/>
          </a:xfrm>
          <a:prstGeom prst="rect">
            <a:avLst/>
          </a:prstGeom>
          <a:noFill/>
          <a:ln/>
        </p:spPr>
        <p:txBody>
          <a:bodyPr wrap="square" lIns="0" tIns="0" rIns="0" bIns="0" rtlCol="0" anchor="ctr"/>
          <a:lstStyle/>
          <a:p>
            <a:pPr algn="ctr" indent="0" marL="0">
              <a:buNone/>
            </a:pPr>
            <a:r>
              <a:rPr lang="en-US" sz="880" dirty="0">
                <a:solidFill>
                  <a:srgbClr val="475569"/>
                </a:solidFill>
              </a:rPr>
              <a:t>Form, filters, table, badges</a:t>
            </a:r>
            <a:endParaRPr lang="en-US" sz="880" dirty="0"/>
          </a:p>
        </p:txBody>
      </p:sp>
      <p:sp>
        <p:nvSpPr>
          <p:cNvPr id="10" name="Shape 8"/>
          <p:cNvSpPr/>
          <p:nvPr/>
        </p:nvSpPr>
        <p:spPr>
          <a:xfrm>
            <a:off x="2788920" y="2414016"/>
            <a:ext cx="502920" cy="292608"/>
          </a:xfrm>
          <a:prstGeom prst="chevron">
            <a:avLst/>
          </a:prstGeom>
          <a:solidFill>
            <a:srgbClr val="CBD5E1"/>
          </a:solidFill>
          <a:ln w="12700">
            <a:solidFill>
              <a:srgbClr val="CBD5E1">
                <a:alpha val="0"/>
              </a:srgbClr>
            </a:solidFill>
            <a:prstDash val="solid"/>
          </a:ln>
        </p:spPr>
      </p:sp>
      <p:sp>
        <p:nvSpPr>
          <p:cNvPr id="11" name="Shape 9"/>
          <p:cNvSpPr/>
          <p:nvPr/>
        </p:nvSpPr>
        <p:spPr>
          <a:xfrm>
            <a:off x="3520440" y="2103120"/>
            <a:ext cx="1828800" cy="914400"/>
          </a:xfrm>
          <a:prstGeom prst="roundRect">
            <a:avLst>
              <a:gd name="adj" fmla="val 8000"/>
            </a:avLst>
          </a:prstGeom>
          <a:solidFill>
            <a:srgbClr val="FFFFFF"/>
          </a:solidFill>
          <a:ln w="12700">
            <a:solidFill>
              <a:srgbClr val="2563EB"/>
            </a:solidFill>
            <a:prstDash val="solid"/>
          </a:ln>
        </p:spPr>
      </p:sp>
      <p:sp>
        <p:nvSpPr>
          <p:cNvPr id="12" name="Text 10"/>
          <p:cNvSpPr/>
          <p:nvPr/>
        </p:nvSpPr>
        <p:spPr>
          <a:xfrm>
            <a:off x="3611880" y="2267712"/>
            <a:ext cx="1645920" cy="228600"/>
          </a:xfrm>
          <a:prstGeom prst="rect">
            <a:avLst/>
          </a:prstGeom>
          <a:noFill/>
          <a:ln/>
        </p:spPr>
        <p:txBody>
          <a:bodyPr wrap="square" lIns="0" tIns="0" rIns="0" bIns="0" rtlCol="0" anchor="ctr"/>
          <a:lstStyle/>
          <a:p>
            <a:pPr algn="ctr" indent="0" marL="0">
              <a:buNone/>
            </a:pPr>
            <a:r>
              <a:rPr lang="en-US" sz="1250" b="1" dirty="0">
                <a:solidFill>
                  <a:srgbClr val="2563EB"/>
                </a:solidFill>
              </a:rPr>
              <a:t>API Client</a:t>
            </a:r>
            <a:endParaRPr lang="en-US" sz="1250" dirty="0"/>
          </a:p>
        </p:txBody>
      </p:sp>
      <p:sp>
        <p:nvSpPr>
          <p:cNvPr id="13" name="Text 11"/>
          <p:cNvSpPr/>
          <p:nvPr/>
        </p:nvSpPr>
        <p:spPr>
          <a:xfrm>
            <a:off x="3639312" y="2578608"/>
            <a:ext cx="1591056" cy="256032"/>
          </a:xfrm>
          <a:prstGeom prst="rect">
            <a:avLst/>
          </a:prstGeom>
          <a:noFill/>
          <a:ln/>
        </p:spPr>
        <p:txBody>
          <a:bodyPr wrap="square" lIns="0" tIns="0" rIns="0" bIns="0" rtlCol="0" anchor="ctr"/>
          <a:lstStyle/>
          <a:p>
            <a:pPr algn="ctr" indent="0" marL="0">
              <a:buNone/>
            </a:pPr>
            <a:r>
              <a:rPr lang="en-US" sz="880" dirty="0">
                <a:solidFill>
                  <a:srgbClr val="475569"/>
                </a:solidFill>
              </a:rPr>
              <a:t>fetch wrappers in problemsApi.ts</a:t>
            </a:r>
            <a:endParaRPr lang="en-US" sz="880" dirty="0"/>
          </a:p>
        </p:txBody>
      </p:sp>
      <p:sp>
        <p:nvSpPr>
          <p:cNvPr id="14" name="Shape 12"/>
          <p:cNvSpPr/>
          <p:nvPr/>
        </p:nvSpPr>
        <p:spPr>
          <a:xfrm>
            <a:off x="5577840" y="2414016"/>
            <a:ext cx="502920" cy="292608"/>
          </a:xfrm>
          <a:prstGeom prst="chevron">
            <a:avLst/>
          </a:prstGeom>
          <a:solidFill>
            <a:srgbClr val="CBD5E1"/>
          </a:solidFill>
          <a:ln w="12700">
            <a:solidFill>
              <a:srgbClr val="CBD5E1">
                <a:alpha val="0"/>
              </a:srgbClr>
            </a:solidFill>
            <a:prstDash val="solid"/>
          </a:ln>
        </p:spPr>
      </p:sp>
      <p:sp>
        <p:nvSpPr>
          <p:cNvPr id="15" name="Shape 13"/>
          <p:cNvSpPr/>
          <p:nvPr/>
        </p:nvSpPr>
        <p:spPr>
          <a:xfrm>
            <a:off x="6309360" y="2103120"/>
            <a:ext cx="1828800" cy="914400"/>
          </a:xfrm>
          <a:prstGeom prst="roundRect">
            <a:avLst>
              <a:gd name="adj" fmla="val 8000"/>
            </a:avLst>
          </a:prstGeom>
          <a:solidFill>
            <a:srgbClr val="FFFFFF"/>
          </a:solidFill>
          <a:ln w="12700">
            <a:solidFill>
              <a:srgbClr val="16A34A"/>
            </a:solidFill>
            <a:prstDash val="solid"/>
          </a:ln>
        </p:spPr>
      </p:sp>
      <p:sp>
        <p:nvSpPr>
          <p:cNvPr id="16" name="Text 14"/>
          <p:cNvSpPr/>
          <p:nvPr/>
        </p:nvSpPr>
        <p:spPr>
          <a:xfrm>
            <a:off x="6400800" y="2267712"/>
            <a:ext cx="1645920" cy="228600"/>
          </a:xfrm>
          <a:prstGeom prst="rect">
            <a:avLst/>
          </a:prstGeom>
          <a:noFill/>
          <a:ln/>
        </p:spPr>
        <p:txBody>
          <a:bodyPr wrap="square" lIns="0" tIns="0" rIns="0" bIns="0" rtlCol="0" anchor="ctr"/>
          <a:lstStyle/>
          <a:p>
            <a:pPr algn="ctr" indent="0" marL="0">
              <a:buNone/>
            </a:pPr>
            <a:r>
              <a:rPr lang="en-US" sz="1250" b="1" dirty="0">
                <a:solidFill>
                  <a:srgbClr val="16A34A"/>
                </a:solidFill>
              </a:rPr>
              <a:t>Express API</a:t>
            </a:r>
            <a:endParaRPr lang="en-US" sz="1250" dirty="0"/>
          </a:p>
        </p:txBody>
      </p:sp>
      <p:sp>
        <p:nvSpPr>
          <p:cNvPr id="17" name="Text 15"/>
          <p:cNvSpPr/>
          <p:nvPr/>
        </p:nvSpPr>
        <p:spPr>
          <a:xfrm>
            <a:off x="6428232" y="2578608"/>
            <a:ext cx="1591056" cy="256032"/>
          </a:xfrm>
          <a:prstGeom prst="rect">
            <a:avLst/>
          </a:prstGeom>
          <a:noFill/>
          <a:ln/>
        </p:spPr>
        <p:txBody>
          <a:bodyPr wrap="square" lIns="0" tIns="0" rIns="0" bIns="0" rtlCol="0" anchor="ctr"/>
          <a:lstStyle/>
          <a:p>
            <a:pPr algn="ctr" indent="0" marL="0">
              <a:buNone/>
            </a:pPr>
            <a:r>
              <a:rPr lang="en-US" sz="880" dirty="0">
                <a:solidFill>
                  <a:srgbClr val="475569"/>
                </a:solidFill>
              </a:rPr>
              <a:t>routes + controllers</a:t>
            </a:r>
            <a:endParaRPr lang="en-US" sz="880" dirty="0"/>
          </a:p>
        </p:txBody>
      </p:sp>
      <p:sp>
        <p:nvSpPr>
          <p:cNvPr id="18" name="Shape 16"/>
          <p:cNvSpPr/>
          <p:nvPr/>
        </p:nvSpPr>
        <p:spPr>
          <a:xfrm>
            <a:off x="8366760" y="2414016"/>
            <a:ext cx="502920" cy="292608"/>
          </a:xfrm>
          <a:prstGeom prst="chevron">
            <a:avLst/>
          </a:prstGeom>
          <a:solidFill>
            <a:srgbClr val="CBD5E1"/>
          </a:solidFill>
          <a:ln w="12700">
            <a:solidFill>
              <a:srgbClr val="CBD5E1">
                <a:alpha val="0"/>
              </a:srgbClr>
            </a:solidFill>
            <a:prstDash val="solid"/>
          </a:ln>
        </p:spPr>
      </p:sp>
      <p:sp>
        <p:nvSpPr>
          <p:cNvPr id="19" name="Shape 17"/>
          <p:cNvSpPr/>
          <p:nvPr/>
        </p:nvSpPr>
        <p:spPr>
          <a:xfrm>
            <a:off x="9098280" y="2103120"/>
            <a:ext cx="1828800" cy="914400"/>
          </a:xfrm>
          <a:prstGeom prst="roundRect">
            <a:avLst>
              <a:gd name="adj" fmla="val 8000"/>
            </a:avLst>
          </a:prstGeom>
          <a:solidFill>
            <a:srgbClr val="FFFFFF"/>
          </a:solidFill>
          <a:ln w="12700">
            <a:solidFill>
              <a:srgbClr val="F59E0B"/>
            </a:solidFill>
            <a:prstDash val="solid"/>
          </a:ln>
        </p:spPr>
      </p:sp>
      <p:sp>
        <p:nvSpPr>
          <p:cNvPr id="20" name="Text 18"/>
          <p:cNvSpPr/>
          <p:nvPr/>
        </p:nvSpPr>
        <p:spPr>
          <a:xfrm>
            <a:off x="9189720" y="2267712"/>
            <a:ext cx="1645920" cy="228600"/>
          </a:xfrm>
          <a:prstGeom prst="rect">
            <a:avLst/>
          </a:prstGeom>
          <a:noFill/>
          <a:ln/>
        </p:spPr>
        <p:txBody>
          <a:bodyPr wrap="square" lIns="0" tIns="0" rIns="0" bIns="0" rtlCol="0" anchor="ctr"/>
          <a:lstStyle/>
          <a:p>
            <a:pPr algn="ctr" indent="0" marL="0">
              <a:buNone/>
            </a:pPr>
            <a:r>
              <a:rPr lang="en-US" sz="1250" b="1" dirty="0">
                <a:solidFill>
                  <a:srgbClr val="F59E0B"/>
                </a:solidFill>
              </a:rPr>
              <a:t>PostgreSQL</a:t>
            </a:r>
            <a:endParaRPr lang="en-US" sz="1250" dirty="0"/>
          </a:p>
        </p:txBody>
      </p:sp>
      <p:sp>
        <p:nvSpPr>
          <p:cNvPr id="21" name="Text 19"/>
          <p:cNvSpPr/>
          <p:nvPr/>
        </p:nvSpPr>
        <p:spPr>
          <a:xfrm>
            <a:off x="9217152" y="2578608"/>
            <a:ext cx="1591056" cy="256032"/>
          </a:xfrm>
          <a:prstGeom prst="rect">
            <a:avLst/>
          </a:prstGeom>
          <a:noFill/>
          <a:ln/>
        </p:spPr>
        <p:txBody>
          <a:bodyPr wrap="square" lIns="0" tIns="0" rIns="0" bIns="0" rtlCol="0" anchor="ctr"/>
          <a:lstStyle/>
          <a:p>
            <a:pPr algn="ctr" indent="0" marL="0">
              <a:buNone/>
            </a:pPr>
            <a:r>
              <a:rPr lang="en-US" sz="880" dirty="0">
                <a:solidFill>
                  <a:srgbClr val="475569"/>
                </a:solidFill>
              </a:rPr>
              <a:t>problems table</a:t>
            </a:r>
            <a:endParaRPr lang="en-US" sz="880" dirty="0"/>
          </a:p>
        </p:txBody>
      </p:sp>
      <p:sp>
        <p:nvSpPr>
          <p:cNvPr id="22" name="Shape 20"/>
          <p:cNvSpPr/>
          <p:nvPr/>
        </p:nvSpPr>
        <p:spPr>
          <a:xfrm>
            <a:off x="1005840" y="3977640"/>
            <a:ext cx="9966960" cy="1097280"/>
          </a:xfrm>
          <a:prstGeom prst="roundRect">
            <a:avLst>
              <a:gd name="adj" fmla="val 6667"/>
            </a:avLst>
          </a:prstGeom>
          <a:solidFill>
            <a:srgbClr val="FFFFFF"/>
          </a:solidFill>
          <a:ln w="12700">
            <a:solidFill>
              <a:srgbClr val="E2E8F0"/>
            </a:solidFill>
            <a:prstDash val="solid"/>
          </a:ln>
        </p:spPr>
      </p:sp>
      <p:sp>
        <p:nvSpPr>
          <p:cNvPr id="23" name="Text 21"/>
          <p:cNvSpPr/>
          <p:nvPr/>
        </p:nvSpPr>
        <p:spPr>
          <a:xfrm>
            <a:off x="1234440" y="4224528"/>
            <a:ext cx="1737360" cy="228600"/>
          </a:xfrm>
          <a:prstGeom prst="rect">
            <a:avLst/>
          </a:prstGeom>
          <a:noFill/>
          <a:ln/>
        </p:spPr>
        <p:txBody>
          <a:bodyPr wrap="square" lIns="0" tIns="0" rIns="0" bIns="0" rtlCol="0" anchor="ctr"/>
          <a:lstStyle/>
          <a:p>
            <a:pPr indent="0" marL="0">
              <a:buNone/>
            </a:pPr>
            <a:r>
              <a:rPr lang="en-US" sz="1000" b="1" dirty="0">
                <a:solidFill>
                  <a:srgbClr val="16A34A"/>
                </a:solidFill>
              </a:rPr>
              <a:t>Backend internal flow</a:t>
            </a:r>
            <a:endParaRPr lang="en-US" sz="1000" dirty="0"/>
          </a:p>
        </p:txBody>
      </p:sp>
      <p:sp>
        <p:nvSpPr>
          <p:cNvPr id="24" name="Text 22"/>
          <p:cNvSpPr/>
          <p:nvPr/>
        </p:nvSpPr>
        <p:spPr>
          <a:xfrm>
            <a:off x="2880360" y="4169664"/>
            <a:ext cx="7680960" cy="320040"/>
          </a:xfrm>
          <a:prstGeom prst="rect">
            <a:avLst/>
          </a:prstGeom>
          <a:noFill/>
          <a:ln/>
        </p:spPr>
        <p:txBody>
          <a:bodyPr wrap="square" lIns="0" tIns="0" rIns="0" bIns="0" rtlCol="0" anchor="ctr"/>
          <a:lstStyle/>
          <a:p>
            <a:pPr indent="0" marL="0">
              <a:buNone/>
            </a:pPr>
            <a:r>
              <a:rPr lang="en-US" sz="1400" b="1" dirty="0">
                <a:solidFill>
                  <a:srgbClr val="0F172A"/>
                </a:solidFill>
              </a:rPr>
              <a:t>Routes map URLs -&gt; Controllers handle HTTP/errors -&gt; Validators protect input -&gt; Services run parameterized SQL</a:t>
            </a:r>
            <a:endParaRPr lang="en-US" sz="1400" dirty="0"/>
          </a:p>
        </p:txBody>
      </p:sp>
      <p:sp>
        <p:nvSpPr>
          <p:cNvPr id="25" name="Shape 23"/>
          <p:cNvSpPr/>
          <p:nvPr/>
        </p:nvSpPr>
        <p:spPr>
          <a:xfrm>
            <a:off x="1463040" y="5468112"/>
            <a:ext cx="1508760" cy="329184"/>
          </a:xfrm>
          <a:prstGeom prst="roundRect">
            <a:avLst>
              <a:gd name="adj" fmla="val 19444"/>
            </a:avLst>
          </a:prstGeom>
          <a:solidFill>
            <a:srgbClr val="2563EB"/>
          </a:solidFill>
          <a:ln w="12700">
            <a:solidFill>
              <a:srgbClr val="2563EB">
                <a:alpha val="0"/>
              </a:srgbClr>
            </a:solidFill>
            <a:prstDash val="solid"/>
          </a:ln>
        </p:spPr>
      </p:sp>
      <p:sp>
        <p:nvSpPr>
          <p:cNvPr id="26" name="Text 24"/>
          <p:cNvSpPr/>
          <p:nvPr/>
        </p:nvSpPr>
        <p:spPr>
          <a:xfrm>
            <a:off x="1463040" y="5532120"/>
            <a:ext cx="1508760" cy="164592"/>
          </a:xfrm>
          <a:prstGeom prst="rect">
            <a:avLst/>
          </a:prstGeom>
          <a:noFill/>
          <a:ln/>
        </p:spPr>
        <p:txBody>
          <a:bodyPr wrap="square" lIns="0" tIns="0" rIns="0" bIns="0" rtlCol="0" anchor="ctr"/>
          <a:lstStyle/>
          <a:p>
            <a:pPr algn="ctr" indent="0" marL="0">
              <a:buNone/>
            </a:pPr>
            <a:r>
              <a:rPr lang="en-US" sz="850" b="1" dirty="0">
                <a:solidFill>
                  <a:srgbClr val="FFFFFF"/>
                </a:solidFill>
              </a:rPr>
              <a:t>TypeScript</a:t>
            </a:r>
            <a:endParaRPr lang="en-US" sz="850" dirty="0"/>
          </a:p>
        </p:txBody>
      </p:sp>
      <p:sp>
        <p:nvSpPr>
          <p:cNvPr id="27" name="Shape 25"/>
          <p:cNvSpPr/>
          <p:nvPr/>
        </p:nvSpPr>
        <p:spPr>
          <a:xfrm>
            <a:off x="3154680" y="5468112"/>
            <a:ext cx="1508760" cy="329184"/>
          </a:xfrm>
          <a:prstGeom prst="roundRect">
            <a:avLst>
              <a:gd name="adj" fmla="val 19444"/>
            </a:avLst>
          </a:prstGeom>
          <a:solidFill>
            <a:srgbClr val="16A34A"/>
          </a:solidFill>
          <a:ln w="12700">
            <a:solidFill>
              <a:srgbClr val="16A34A">
                <a:alpha val="0"/>
              </a:srgbClr>
            </a:solidFill>
            <a:prstDash val="solid"/>
          </a:ln>
        </p:spPr>
      </p:sp>
      <p:sp>
        <p:nvSpPr>
          <p:cNvPr id="28" name="Text 26"/>
          <p:cNvSpPr/>
          <p:nvPr/>
        </p:nvSpPr>
        <p:spPr>
          <a:xfrm>
            <a:off x="3154680" y="5532120"/>
            <a:ext cx="1508760" cy="164592"/>
          </a:xfrm>
          <a:prstGeom prst="rect">
            <a:avLst/>
          </a:prstGeom>
          <a:noFill/>
          <a:ln/>
        </p:spPr>
        <p:txBody>
          <a:bodyPr wrap="square" lIns="0" tIns="0" rIns="0" bIns="0" rtlCol="0" anchor="ctr"/>
          <a:lstStyle/>
          <a:p>
            <a:pPr algn="ctr" indent="0" marL="0">
              <a:buNone/>
            </a:pPr>
            <a:r>
              <a:rPr lang="en-US" sz="850" b="1" dirty="0">
                <a:solidFill>
                  <a:srgbClr val="FFFFFF"/>
                </a:solidFill>
              </a:rPr>
              <a:t>REST APIs</a:t>
            </a:r>
            <a:endParaRPr lang="en-US" sz="850" dirty="0"/>
          </a:p>
        </p:txBody>
      </p:sp>
      <p:sp>
        <p:nvSpPr>
          <p:cNvPr id="29" name="Shape 27"/>
          <p:cNvSpPr/>
          <p:nvPr/>
        </p:nvSpPr>
        <p:spPr>
          <a:xfrm>
            <a:off x="4846320" y="5468112"/>
            <a:ext cx="1508760" cy="329184"/>
          </a:xfrm>
          <a:prstGeom prst="roundRect">
            <a:avLst>
              <a:gd name="adj" fmla="val 19444"/>
            </a:avLst>
          </a:prstGeom>
          <a:solidFill>
            <a:srgbClr val="F59E0B"/>
          </a:solidFill>
          <a:ln w="12700">
            <a:solidFill>
              <a:srgbClr val="F59E0B">
                <a:alpha val="0"/>
              </a:srgbClr>
            </a:solidFill>
            <a:prstDash val="solid"/>
          </a:ln>
        </p:spPr>
      </p:sp>
      <p:sp>
        <p:nvSpPr>
          <p:cNvPr id="30" name="Text 28"/>
          <p:cNvSpPr/>
          <p:nvPr/>
        </p:nvSpPr>
        <p:spPr>
          <a:xfrm>
            <a:off x="4846320" y="5532120"/>
            <a:ext cx="1508760" cy="164592"/>
          </a:xfrm>
          <a:prstGeom prst="rect">
            <a:avLst/>
          </a:prstGeom>
          <a:noFill/>
          <a:ln/>
        </p:spPr>
        <p:txBody>
          <a:bodyPr wrap="square" lIns="0" tIns="0" rIns="0" bIns="0" rtlCol="0" anchor="ctr"/>
          <a:lstStyle/>
          <a:p>
            <a:pPr algn="ctr" indent="0" marL="0">
              <a:buNone/>
            </a:pPr>
            <a:r>
              <a:rPr lang="en-US" sz="850" b="1" dirty="0">
                <a:solidFill>
                  <a:srgbClr val="FFFFFF"/>
                </a:solidFill>
              </a:rPr>
              <a:t>Validation</a:t>
            </a:r>
            <a:endParaRPr lang="en-US" sz="850" dirty="0"/>
          </a:p>
        </p:txBody>
      </p:sp>
      <p:sp>
        <p:nvSpPr>
          <p:cNvPr id="31" name="Shape 29"/>
          <p:cNvSpPr/>
          <p:nvPr/>
        </p:nvSpPr>
        <p:spPr>
          <a:xfrm>
            <a:off x="6537960" y="5468112"/>
            <a:ext cx="1508760" cy="329184"/>
          </a:xfrm>
          <a:prstGeom prst="roundRect">
            <a:avLst>
              <a:gd name="adj" fmla="val 19444"/>
            </a:avLst>
          </a:prstGeom>
          <a:solidFill>
            <a:srgbClr val="E11D48"/>
          </a:solidFill>
          <a:ln w="12700">
            <a:solidFill>
              <a:srgbClr val="E11D48">
                <a:alpha val="0"/>
              </a:srgbClr>
            </a:solidFill>
            <a:prstDash val="solid"/>
          </a:ln>
        </p:spPr>
      </p:sp>
      <p:sp>
        <p:nvSpPr>
          <p:cNvPr id="32" name="Text 30"/>
          <p:cNvSpPr/>
          <p:nvPr/>
        </p:nvSpPr>
        <p:spPr>
          <a:xfrm>
            <a:off x="6537960" y="5532120"/>
            <a:ext cx="1508760" cy="164592"/>
          </a:xfrm>
          <a:prstGeom prst="rect">
            <a:avLst/>
          </a:prstGeom>
          <a:noFill/>
          <a:ln/>
        </p:spPr>
        <p:txBody>
          <a:bodyPr wrap="square" lIns="0" tIns="0" rIns="0" bIns="0" rtlCol="0" anchor="ctr"/>
          <a:lstStyle/>
          <a:p>
            <a:pPr algn="ctr" indent="0" marL="0">
              <a:buNone/>
            </a:pPr>
            <a:r>
              <a:rPr lang="en-US" sz="850" b="1" dirty="0">
                <a:solidFill>
                  <a:srgbClr val="FFFFFF"/>
                </a:solidFill>
              </a:rPr>
              <a:t>Parameterized SQL</a:t>
            </a:r>
            <a:endParaRPr lang="en-US" sz="850" dirty="0"/>
          </a:p>
        </p:txBody>
      </p:sp>
      <p:sp>
        <p:nvSpPr>
          <p:cNvPr id="33" name="Shape 31"/>
          <p:cNvSpPr/>
          <p:nvPr/>
        </p:nvSpPr>
        <p:spPr>
          <a:xfrm>
            <a:off x="8229600" y="5468112"/>
            <a:ext cx="1508760" cy="329184"/>
          </a:xfrm>
          <a:prstGeom prst="roundRect">
            <a:avLst>
              <a:gd name="adj" fmla="val 19444"/>
            </a:avLst>
          </a:prstGeom>
          <a:solidFill>
            <a:srgbClr val="0F172A"/>
          </a:solidFill>
          <a:ln w="12700">
            <a:solidFill>
              <a:srgbClr val="0F172A">
                <a:alpha val="0"/>
              </a:srgbClr>
            </a:solidFill>
            <a:prstDash val="solid"/>
          </a:ln>
        </p:spPr>
      </p:sp>
      <p:sp>
        <p:nvSpPr>
          <p:cNvPr id="34" name="Text 32"/>
          <p:cNvSpPr/>
          <p:nvPr/>
        </p:nvSpPr>
        <p:spPr>
          <a:xfrm>
            <a:off x="8229600" y="5532120"/>
            <a:ext cx="1508760" cy="164592"/>
          </a:xfrm>
          <a:prstGeom prst="rect">
            <a:avLst/>
          </a:prstGeom>
          <a:noFill/>
          <a:ln/>
        </p:spPr>
        <p:txBody>
          <a:bodyPr wrap="square" lIns="0" tIns="0" rIns="0" bIns="0" rtlCol="0" anchor="ctr"/>
          <a:lstStyle/>
          <a:p>
            <a:pPr algn="ctr" indent="0" marL="0">
              <a:buNone/>
            </a:pPr>
            <a:r>
              <a:rPr lang="en-US" sz="850" b="1" dirty="0">
                <a:solidFill>
                  <a:srgbClr val="FFFFFF"/>
                </a:solidFill>
              </a:rPr>
              <a:t>Simple Deployless Demo</a:t>
            </a:r>
            <a:endParaRPr lang="en-US" sz="850" dirty="0"/>
          </a:p>
        </p:txBody>
      </p:sp>
      <p:sp>
        <p:nvSpPr>
          <p:cNvPr id="35" name="Text 33"/>
          <p:cNvSpPr/>
          <p:nvPr/>
        </p:nvSpPr>
        <p:spPr>
          <a:xfrm>
            <a:off x="502920" y="6510528"/>
            <a:ext cx="3200400" cy="182880"/>
          </a:xfrm>
          <a:prstGeom prst="rect">
            <a:avLst/>
          </a:prstGeom>
          <a:noFill/>
          <a:ln/>
        </p:spPr>
        <p:txBody>
          <a:bodyPr wrap="square" lIns="0" tIns="0" rIns="0" bIns="0" rtlCol="0" anchor="ctr"/>
          <a:lstStyle/>
          <a:p>
            <a:pPr indent="0" marL="0">
              <a:buNone/>
            </a:pPr>
            <a:r>
              <a:rPr lang="en-US" sz="750" dirty="0">
                <a:solidFill>
                  <a:srgbClr val="64748B"/>
                </a:solidFill>
              </a:rPr>
              <a:t>Interview Question Tracker  |  3/5</a:t>
            </a:r>
            <a:endParaRPr lang="en-US" sz="750" dirty="0"/>
          </a:p>
        </p:txBody>
      </p:sp>
      <p:sp>
        <p:nvSpPr>
          <p:cNvPr id="36" name="Shape 34"/>
          <p:cNvSpPr/>
          <p:nvPr/>
        </p:nvSpPr>
        <p:spPr>
          <a:xfrm>
            <a:off x="9875520" y="6601968"/>
            <a:ext cx="1737360" cy="0"/>
          </a:xfrm>
          <a:prstGeom prst="line">
            <a:avLst/>
          </a:prstGeom>
          <a:noFill/>
          <a:ln w="12700">
            <a:solidFill>
              <a:srgbClr val="2563EB"/>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rot="2100000">
            <a:off x="9646920" y="-685800"/>
            <a:ext cx="3474720" cy="3474720"/>
          </a:xfrm>
          <a:prstGeom prst="arc">
            <a:avLst/>
          </a:prstGeom>
          <a:solidFill>
            <a:srgbClr val="DBEAFE">
              <a:alpha val="82000"/>
            </a:srgbClr>
          </a:solidFill>
          <a:ln w="12700">
            <a:solidFill>
              <a:srgbClr val="DBEAFE">
                <a:alpha val="0"/>
              </a:srgbClr>
            </a:solidFill>
            <a:prstDash val="solid"/>
          </a:ln>
        </p:spPr>
      </p:sp>
      <p:sp>
        <p:nvSpPr>
          <p:cNvPr id="4" name="Text 2"/>
          <p:cNvSpPr/>
          <p:nvPr/>
        </p:nvSpPr>
        <p:spPr>
          <a:xfrm>
            <a:off x="502920" y="320040"/>
            <a:ext cx="4389120" cy="256032"/>
          </a:xfrm>
          <a:prstGeom prst="rect">
            <a:avLst/>
          </a:prstGeom>
          <a:noFill/>
          <a:ln/>
        </p:spPr>
        <p:txBody>
          <a:bodyPr wrap="square" rtlCol="0" anchor="ctr"/>
          <a:lstStyle/>
          <a:p>
            <a:pPr indent="0" marL="0">
              <a:buNone/>
            </a:pPr>
            <a:r>
              <a:rPr lang="en-US" sz="900" b="1" dirty="0">
                <a:solidFill>
                  <a:srgbClr val="2563EB"/>
                </a:solidFill>
                <a:latin typeface="Aptos" pitchFamily="34" charset="0"/>
                <a:ea typeface="Aptos" pitchFamily="34" charset="-122"/>
                <a:cs typeface="Aptos" pitchFamily="34" charset="-120"/>
              </a:rPr>
              <a:t>DATABASE DESIGN AND API DESIGN</a:t>
            </a:r>
            <a:endParaRPr lang="en-US" sz="900" dirty="0"/>
          </a:p>
        </p:txBody>
      </p:sp>
      <p:sp>
        <p:nvSpPr>
          <p:cNvPr id="5" name="Text 3"/>
          <p:cNvSpPr/>
          <p:nvPr/>
        </p:nvSpPr>
        <p:spPr>
          <a:xfrm>
            <a:off x="502920" y="685800"/>
            <a:ext cx="7680960" cy="658368"/>
          </a:xfrm>
          <a:prstGeom prst="rect">
            <a:avLst/>
          </a:prstGeom>
          <a:noFill/>
          <a:ln/>
        </p:spPr>
        <p:txBody>
          <a:bodyPr wrap="square" lIns="0" tIns="0" rIns="0" bIns="0" rtlCol="0" anchor="ctr"/>
          <a:lstStyle/>
          <a:p>
            <a:pPr indent="0" marL="0">
              <a:buNone/>
            </a:pPr>
            <a:r>
              <a:rPr lang="en-US" sz="2900" b="1" dirty="0">
                <a:solidFill>
                  <a:srgbClr val="0F172A"/>
                </a:solidFill>
                <a:latin typeface="Aptos Display" pitchFamily="34" charset="0"/>
                <a:ea typeface="Aptos Display" pitchFamily="34" charset="-122"/>
                <a:cs typeface="Aptos Display" pitchFamily="34" charset="-120"/>
              </a:rPr>
              <a:t>One table and four core endpoints cover the full demo workflow</a:t>
            </a:r>
            <a:endParaRPr lang="en-US" sz="2900" dirty="0"/>
          </a:p>
        </p:txBody>
      </p:sp>
      <p:sp>
        <p:nvSpPr>
          <p:cNvPr id="6" name="Text 4"/>
          <p:cNvSpPr/>
          <p:nvPr/>
        </p:nvSpPr>
        <p:spPr>
          <a:xfrm>
            <a:off x="530352" y="1353312"/>
            <a:ext cx="7040880" cy="411480"/>
          </a:xfrm>
          <a:prstGeom prst="rect">
            <a:avLst/>
          </a:prstGeom>
          <a:noFill/>
          <a:ln/>
        </p:spPr>
        <p:txBody>
          <a:bodyPr wrap="square" lIns="0" tIns="0" rIns="0" bIns="0" rtlCol="0" anchor="ctr"/>
          <a:lstStyle/>
          <a:p>
            <a:pPr indent="0" marL="0">
              <a:buNone/>
            </a:pPr>
            <a:r>
              <a:rPr lang="en-US" sz="1250" dirty="0">
                <a:solidFill>
                  <a:srgbClr val="475569"/>
                </a:solidFill>
              </a:rPr>
              <a:t>The API is intentionally narrow and mirrors what the UI needs.</a:t>
            </a:r>
            <a:endParaRPr lang="en-US" sz="1250" dirty="0"/>
          </a:p>
        </p:txBody>
      </p:sp>
      <p:sp>
        <p:nvSpPr>
          <p:cNvPr id="7" name="Shape 5"/>
          <p:cNvSpPr/>
          <p:nvPr/>
        </p:nvSpPr>
        <p:spPr>
          <a:xfrm>
            <a:off x="658368" y="1783080"/>
            <a:ext cx="5166360" cy="4251960"/>
          </a:xfrm>
          <a:prstGeom prst="roundRect">
            <a:avLst>
              <a:gd name="adj" fmla="val 1720"/>
            </a:avLst>
          </a:prstGeom>
          <a:solidFill>
            <a:srgbClr val="FFFFFF"/>
          </a:solidFill>
          <a:ln w="12700">
            <a:solidFill>
              <a:srgbClr val="E2E8F0"/>
            </a:solidFill>
            <a:prstDash val="solid"/>
          </a:ln>
        </p:spPr>
      </p:sp>
      <p:sp>
        <p:nvSpPr>
          <p:cNvPr id="8" name="Text 6"/>
          <p:cNvSpPr/>
          <p:nvPr/>
        </p:nvSpPr>
        <p:spPr>
          <a:xfrm>
            <a:off x="932688" y="2029968"/>
            <a:ext cx="3108960" cy="256032"/>
          </a:xfrm>
          <a:prstGeom prst="rect">
            <a:avLst/>
          </a:prstGeom>
          <a:noFill/>
          <a:ln/>
        </p:spPr>
        <p:txBody>
          <a:bodyPr wrap="square" lIns="0" tIns="0" rIns="0" bIns="0" rtlCol="0" anchor="ctr"/>
          <a:lstStyle/>
          <a:p>
            <a:pPr indent="0" marL="0">
              <a:buNone/>
            </a:pPr>
            <a:r>
              <a:rPr lang="en-US" sz="1600" b="1" dirty="0">
                <a:solidFill>
                  <a:srgbClr val="0F172A"/>
                </a:solidFill>
              </a:rPr>
              <a:t>PostgreSQL: problems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932688" y="2514600"/>
          <a:ext cx="4617720" cy="2697480"/>
        </p:xfrm>
        <a:graphic>
          <a:graphicData uri="http://schemas.openxmlformats.org/drawingml/2006/table">
            <a:tbl>
              <a:tblPr/>
              <a:tblGrid>
                <a:gridCol w="1143000"/>
                <a:gridCol w="3474720"/>
              </a:tblGrid>
              <a:tr h="337185">
                <a:tc>
                  <a:txBody>
                    <a:bodyPr/>
                    <a:lstStyle/>
                    <a:p>
                      <a:pPr indent="0" marL="0">
                        <a:buNone/>
                      </a:pPr>
                      <a:r>
                        <a:rPr lang="en-US" sz="860" dirty="0">
                          <a:solidFill>
                            <a:srgbClr val="0F172A"/>
                          </a:solidFill>
                        </a:rPr>
                        <a:t>id</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60" dirty="0">
                          <a:solidFill>
                            <a:srgbClr val="0F172A"/>
                          </a:solidFill>
                        </a:rPr>
                        <a:t>SERIAL PRIMARY KEY</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7185">
                <a:tc>
                  <a:txBody>
                    <a:bodyPr/>
                    <a:lstStyle/>
                    <a:p>
                      <a:pPr indent="0" marL="0">
                        <a:buNone/>
                      </a:pPr>
                      <a:r>
                        <a:rPr lang="en-US" sz="860" dirty="0">
                          <a:solidFill>
                            <a:srgbClr val="0F172A"/>
                          </a:solidFill>
                        </a:rPr>
                        <a:t>title</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60" dirty="0">
                          <a:solidFill>
                            <a:srgbClr val="0F172A"/>
                          </a:solidFill>
                        </a:rPr>
                        <a:t>required</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7185">
                <a:tc>
                  <a:txBody>
                    <a:bodyPr/>
                    <a:lstStyle/>
                    <a:p>
                      <a:pPr indent="0" marL="0">
                        <a:buNone/>
                      </a:pPr>
                      <a:r>
                        <a:rPr lang="en-US" sz="860" dirty="0">
                          <a:solidFill>
                            <a:srgbClr val="0F172A"/>
                          </a:solidFill>
                        </a:rPr>
                        <a:t>platform</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60" dirty="0">
                          <a:solidFill>
                            <a:srgbClr val="0F172A"/>
                          </a:solidFill>
                        </a:rPr>
                        <a:t>LeetCode, GFG, Codeforces...</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7185">
                <a:tc>
                  <a:txBody>
                    <a:bodyPr/>
                    <a:lstStyle/>
                    <a:p>
                      <a:pPr indent="0" marL="0">
                        <a:buNone/>
                      </a:pPr>
                      <a:r>
                        <a:rPr lang="en-US" sz="860" dirty="0">
                          <a:solidFill>
                            <a:srgbClr val="0F172A"/>
                          </a:solidFill>
                        </a:rPr>
                        <a:t>difficulty</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60" dirty="0">
                          <a:solidFill>
                            <a:srgbClr val="0F172A"/>
                          </a:solidFill>
                        </a:rPr>
                        <a:t>Easy | Medium | Hard</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7185">
                <a:tc>
                  <a:txBody>
                    <a:bodyPr/>
                    <a:lstStyle/>
                    <a:p>
                      <a:pPr indent="0" marL="0">
                        <a:buNone/>
                      </a:pPr>
                      <a:r>
                        <a:rPr lang="en-US" sz="860" dirty="0">
                          <a:solidFill>
                            <a:srgbClr val="0F172A"/>
                          </a:solidFill>
                        </a:rPr>
                        <a:t>topic</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60" dirty="0">
                          <a:solidFill>
                            <a:srgbClr val="0F172A"/>
                          </a:solidFill>
                        </a:rPr>
                        <a:t>Arrays, DP, Graphs...</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7185">
                <a:tc>
                  <a:txBody>
                    <a:bodyPr/>
                    <a:lstStyle/>
                    <a:p>
                      <a:pPr indent="0" marL="0">
                        <a:buNone/>
                      </a:pPr>
                      <a:r>
                        <a:rPr lang="en-US" sz="860" dirty="0">
                          <a:solidFill>
                            <a:srgbClr val="0F172A"/>
                          </a:solidFill>
                        </a:rPr>
                        <a:t>status</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60" dirty="0">
                          <a:solidFill>
                            <a:srgbClr val="0F172A"/>
                          </a:solidFill>
                        </a:rPr>
                        <a:t>Solved | Revision Needed | Unsolved</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7185">
                <a:tc>
                  <a:txBody>
                    <a:bodyPr/>
                    <a:lstStyle/>
                    <a:p>
                      <a:pPr indent="0" marL="0">
                        <a:buNone/>
                      </a:pPr>
                      <a:r>
                        <a:rPr lang="en-US" sz="860" dirty="0">
                          <a:solidFill>
                            <a:srgbClr val="0F172A"/>
                          </a:solidFill>
                        </a:rPr>
                        <a:t>notes</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60" dirty="0">
                          <a:solidFill>
                            <a:srgbClr val="0F172A"/>
                          </a:solidFill>
                        </a:rPr>
                        <a:t>optional</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37185">
                <a:tc>
                  <a:txBody>
                    <a:bodyPr/>
                    <a:lstStyle/>
                    <a:p>
                      <a:pPr indent="0" marL="0">
                        <a:buNone/>
                      </a:pPr>
                      <a:r>
                        <a:rPr lang="en-US" sz="860" dirty="0">
                          <a:solidFill>
                            <a:srgbClr val="0F172A"/>
                          </a:solidFill>
                        </a:rPr>
                        <a:t>created_at</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60" dirty="0">
                          <a:solidFill>
                            <a:srgbClr val="0F172A"/>
                          </a:solidFill>
                        </a:rPr>
                        <a:t>timestamp default</a:t>
                      </a:r>
                      <a:endParaRPr lang="en-US" sz="86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10" name="Text 7"/>
          <p:cNvSpPr/>
          <p:nvPr/>
        </p:nvSpPr>
        <p:spPr>
          <a:xfrm>
            <a:off x="932688" y="5394960"/>
            <a:ext cx="4572000" cy="292608"/>
          </a:xfrm>
          <a:prstGeom prst="rect">
            <a:avLst/>
          </a:prstGeom>
          <a:noFill/>
          <a:ln/>
        </p:spPr>
        <p:txBody>
          <a:bodyPr wrap="square" lIns="0" tIns="0" rIns="0" bIns="0" rtlCol="0" anchor="ctr"/>
          <a:lstStyle/>
          <a:p>
            <a:pPr indent="0" marL="0">
              <a:buNone/>
            </a:pPr>
            <a:r>
              <a:rPr lang="en-US" sz="1000" dirty="0">
                <a:solidFill>
                  <a:srgbClr val="475569"/>
                </a:solidFill>
              </a:rPr>
              <a:t>CHECK constraints keep difficulty/status valid even if a client sends bad data.</a:t>
            </a:r>
            <a:endParaRPr lang="en-US" sz="1000" dirty="0"/>
          </a:p>
        </p:txBody>
      </p:sp>
      <p:sp>
        <p:nvSpPr>
          <p:cNvPr id="11" name="Shape 8"/>
          <p:cNvSpPr/>
          <p:nvPr/>
        </p:nvSpPr>
        <p:spPr>
          <a:xfrm>
            <a:off x="6236208" y="1783080"/>
            <a:ext cx="5303520" cy="4251960"/>
          </a:xfrm>
          <a:prstGeom prst="roundRect">
            <a:avLst>
              <a:gd name="adj" fmla="val 1720"/>
            </a:avLst>
          </a:prstGeom>
          <a:solidFill>
            <a:srgbClr val="FFFFFF"/>
          </a:solidFill>
          <a:ln w="12700">
            <a:solidFill>
              <a:srgbClr val="E2E8F0"/>
            </a:solidFill>
            <a:prstDash val="solid"/>
          </a:ln>
        </p:spPr>
      </p:sp>
      <p:sp>
        <p:nvSpPr>
          <p:cNvPr id="12" name="Text 9"/>
          <p:cNvSpPr/>
          <p:nvPr/>
        </p:nvSpPr>
        <p:spPr>
          <a:xfrm>
            <a:off x="6510528" y="2029968"/>
            <a:ext cx="3108960" cy="256032"/>
          </a:xfrm>
          <a:prstGeom prst="rect">
            <a:avLst/>
          </a:prstGeom>
          <a:noFill/>
          <a:ln/>
        </p:spPr>
        <p:txBody>
          <a:bodyPr wrap="square" lIns="0" tIns="0" rIns="0" bIns="0" rtlCol="0" anchor="ctr"/>
          <a:lstStyle/>
          <a:p>
            <a:pPr indent="0" marL="0">
              <a:buNone/>
            </a:pPr>
            <a:r>
              <a:rPr lang="en-US" sz="1600" b="1" dirty="0">
                <a:solidFill>
                  <a:srgbClr val="0F172A"/>
                </a:solidFill>
              </a:rPr>
              <a:t>REST API</a:t>
            </a:r>
            <a:endParaRPr lang="en-US" sz="16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510528" y="2514600"/>
          <a:ext cx="4663440" cy="1993392"/>
        </p:xfrm>
        <a:graphic>
          <a:graphicData uri="http://schemas.openxmlformats.org/drawingml/2006/table">
            <a:tbl>
              <a:tblPr/>
              <a:tblGrid>
                <a:gridCol w="685800"/>
                <a:gridCol w="2468880"/>
                <a:gridCol w="1508760"/>
              </a:tblGrid>
              <a:tr h="398678">
                <a:tc>
                  <a:txBody>
                    <a:bodyPr/>
                    <a:lstStyle/>
                    <a:p>
                      <a:pPr indent="0" marL="0">
                        <a:buNone/>
                      </a:pPr>
                      <a:r>
                        <a:rPr lang="en-US" sz="850" dirty="0">
                          <a:solidFill>
                            <a:srgbClr val="0F172A"/>
                          </a:solidFill>
                        </a:rPr>
                        <a:t>GET</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F172A"/>
                          </a:solidFill>
                        </a:rPr>
                        <a:t>/api/health</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F172A"/>
                          </a:solidFill>
                        </a:rPr>
                        <a:t>DB check</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8678">
                <a:tc>
                  <a:txBody>
                    <a:bodyPr/>
                    <a:lstStyle/>
                    <a:p>
                      <a:pPr indent="0" marL="0">
                        <a:buNone/>
                      </a:pPr>
                      <a:r>
                        <a:rPr lang="en-US" sz="850" dirty="0">
                          <a:solidFill>
                            <a:srgbClr val="0F172A"/>
                          </a:solidFill>
                        </a:rPr>
                        <a:t>GET</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F172A"/>
                          </a:solidFill>
                        </a:rPr>
                        <a:t>/api/problems</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F172A"/>
                          </a:solidFill>
                        </a:rPr>
                        <a:t>list + filters + solved count</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8678">
                <a:tc>
                  <a:txBody>
                    <a:bodyPr/>
                    <a:lstStyle/>
                    <a:p>
                      <a:pPr indent="0" marL="0">
                        <a:buNone/>
                      </a:pPr>
                      <a:r>
                        <a:rPr lang="en-US" sz="850" dirty="0">
                          <a:solidFill>
                            <a:srgbClr val="0F172A"/>
                          </a:solidFill>
                        </a:rPr>
                        <a:t>POST</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F172A"/>
                          </a:solidFill>
                        </a:rPr>
                        <a:t>/api/problems</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F172A"/>
                          </a:solidFill>
                        </a:rPr>
                        <a:t>create problem</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8678">
                <a:tc>
                  <a:txBody>
                    <a:bodyPr/>
                    <a:lstStyle/>
                    <a:p>
                      <a:pPr indent="0" marL="0">
                        <a:buNone/>
                      </a:pPr>
                      <a:r>
                        <a:rPr lang="en-US" sz="850" dirty="0">
                          <a:solidFill>
                            <a:srgbClr val="0F172A"/>
                          </a:solidFill>
                        </a:rPr>
                        <a:t>PATCH</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F172A"/>
                          </a:solidFill>
                        </a:rPr>
                        <a:t>/api/problems/:id/status</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F172A"/>
                          </a:solidFill>
                        </a:rPr>
                        <a:t>status only</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98678">
                <a:tc>
                  <a:txBody>
                    <a:bodyPr/>
                    <a:lstStyle/>
                    <a:p>
                      <a:pPr indent="0" marL="0">
                        <a:buNone/>
                      </a:pPr>
                      <a:r>
                        <a:rPr lang="en-US" sz="850" dirty="0">
                          <a:solidFill>
                            <a:srgbClr val="0F172A"/>
                          </a:solidFill>
                        </a:rPr>
                        <a:t>DELETE</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F172A"/>
                          </a:solidFill>
                        </a:rPr>
                        <a:t>/api/problems/:id</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850" dirty="0">
                          <a:solidFill>
                            <a:srgbClr val="0F172A"/>
                          </a:solidFill>
                        </a:rPr>
                        <a:t>remove problem</a:t>
                      </a:r>
                      <a:endParaRPr lang="en-US" sz="850" dirty="0"/>
                    </a:p>
                  </a:txBody>
                  <a:tcPr marL="45720" marR="4572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14" name="Shape 10"/>
          <p:cNvSpPr/>
          <p:nvPr/>
        </p:nvSpPr>
        <p:spPr>
          <a:xfrm>
            <a:off x="6510528" y="4892040"/>
            <a:ext cx="2148840" cy="658368"/>
          </a:xfrm>
          <a:prstGeom prst="roundRect">
            <a:avLst>
              <a:gd name="adj" fmla="val 11111"/>
            </a:avLst>
          </a:prstGeom>
          <a:solidFill>
            <a:srgbClr val="FFFFFF"/>
          </a:solidFill>
          <a:ln w="12700">
            <a:solidFill>
              <a:srgbClr val="E2E8F0"/>
            </a:solidFill>
            <a:prstDash val="solid"/>
          </a:ln>
          <a:effectLst>
            <a:outerShdw sx="100000" sy="100000" kx="0" ky="0" algn="bl" rotWithShape="0" blurRad="19050" dist="50800" dir="2700000">
              <a:srgbClr val="94A3B8">
                <a:alpha val="16000"/>
              </a:srgbClr>
            </a:outerShdw>
          </a:effectLst>
        </p:spPr>
      </p:sp>
      <p:sp>
        <p:nvSpPr>
          <p:cNvPr id="15" name="Shape 11"/>
          <p:cNvSpPr/>
          <p:nvPr/>
        </p:nvSpPr>
        <p:spPr>
          <a:xfrm>
            <a:off x="6510528" y="4892040"/>
            <a:ext cx="73152" cy="658368"/>
          </a:xfrm>
          <a:prstGeom prst="rect">
            <a:avLst/>
          </a:prstGeom>
          <a:solidFill>
            <a:srgbClr val="E11D48"/>
          </a:solidFill>
          <a:ln w="12700">
            <a:solidFill>
              <a:srgbClr val="E11D48"/>
            </a:solidFill>
            <a:prstDash val="solid"/>
          </a:ln>
        </p:spPr>
      </p:sp>
      <p:sp>
        <p:nvSpPr>
          <p:cNvPr id="16" name="Text 12"/>
          <p:cNvSpPr/>
          <p:nvPr/>
        </p:nvSpPr>
        <p:spPr>
          <a:xfrm>
            <a:off x="6711696" y="5074920"/>
            <a:ext cx="1783080" cy="256032"/>
          </a:xfrm>
          <a:prstGeom prst="rect">
            <a:avLst/>
          </a:prstGeom>
          <a:noFill/>
          <a:ln/>
        </p:spPr>
        <p:txBody>
          <a:bodyPr wrap="square" lIns="0" tIns="0" rIns="0" bIns="0" rtlCol="0" anchor="ctr"/>
          <a:lstStyle/>
          <a:p>
            <a:pPr indent="0" marL="0">
              <a:buNone/>
            </a:pPr>
            <a:r>
              <a:rPr lang="en-US" sz="1000" b="1" dirty="0">
                <a:solidFill>
                  <a:srgbClr val="E11D48"/>
                </a:solidFill>
              </a:rPr>
              <a:t>Validation</a:t>
            </a:r>
            <a:endParaRPr lang="en-US" sz="1000" dirty="0"/>
          </a:p>
        </p:txBody>
      </p:sp>
      <p:sp>
        <p:nvSpPr>
          <p:cNvPr id="17" name="Text 13"/>
          <p:cNvSpPr/>
          <p:nvPr/>
        </p:nvSpPr>
        <p:spPr>
          <a:xfrm>
            <a:off x="6711696" y="5422392"/>
            <a:ext cx="1737360" cy="18288"/>
          </a:xfrm>
          <a:prstGeom prst="rect">
            <a:avLst/>
          </a:prstGeom>
          <a:noFill/>
          <a:ln/>
        </p:spPr>
        <p:txBody>
          <a:bodyPr wrap="square" lIns="254" tIns="254" rIns="254" bIns="254" rtlCol="0" anchor="ctr">
            <a:normAutofit/>
          </a:bodyPr>
          <a:lstStyle/>
          <a:p>
            <a:pPr indent="0" marL="0">
              <a:buNone/>
            </a:pPr>
            <a:r>
              <a:rPr lang="en-US" sz="1300" dirty="0">
                <a:solidFill>
                  <a:srgbClr val="0F172A"/>
                </a:solidFill>
              </a:rPr>
              <a:t>400 for bad input</a:t>
            </a:r>
            <a:endParaRPr lang="en-US" sz="1300" dirty="0"/>
          </a:p>
        </p:txBody>
      </p:sp>
      <p:sp>
        <p:nvSpPr>
          <p:cNvPr id="18" name="Shape 14"/>
          <p:cNvSpPr/>
          <p:nvPr/>
        </p:nvSpPr>
        <p:spPr>
          <a:xfrm>
            <a:off x="8979408" y="4892040"/>
            <a:ext cx="2148840" cy="658368"/>
          </a:xfrm>
          <a:prstGeom prst="roundRect">
            <a:avLst>
              <a:gd name="adj" fmla="val 11111"/>
            </a:avLst>
          </a:prstGeom>
          <a:solidFill>
            <a:srgbClr val="FFFFFF"/>
          </a:solidFill>
          <a:ln w="12700">
            <a:solidFill>
              <a:srgbClr val="E2E8F0"/>
            </a:solidFill>
            <a:prstDash val="solid"/>
          </a:ln>
          <a:effectLst>
            <a:outerShdw sx="100000" sy="100000" kx="0" ky="0" algn="bl" rotWithShape="0" blurRad="19050" dist="50800" dir="2700000">
              <a:srgbClr val="94A3B8">
                <a:alpha val="16000"/>
              </a:srgbClr>
            </a:outerShdw>
          </a:effectLst>
        </p:spPr>
      </p:sp>
      <p:sp>
        <p:nvSpPr>
          <p:cNvPr id="19" name="Shape 15"/>
          <p:cNvSpPr/>
          <p:nvPr/>
        </p:nvSpPr>
        <p:spPr>
          <a:xfrm>
            <a:off x="8979408" y="4892040"/>
            <a:ext cx="73152" cy="658368"/>
          </a:xfrm>
          <a:prstGeom prst="rect">
            <a:avLst/>
          </a:prstGeom>
          <a:solidFill>
            <a:srgbClr val="F59E0B"/>
          </a:solidFill>
          <a:ln w="12700">
            <a:solidFill>
              <a:srgbClr val="F59E0B"/>
            </a:solidFill>
            <a:prstDash val="solid"/>
          </a:ln>
        </p:spPr>
      </p:sp>
      <p:sp>
        <p:nvSpPr>
          <p:cNvPr id="20" name="Text 16"/>
          <p:cNvSpPr/>
          <p:nvPr/>
        </p:nvSpPr>
        <p:spPr>
          <a:xfrm>
            <a:off x="9180576" y="5074920"/>
            <a:ext cx="1783080" cy="256032"/>
          </a:xfrm>
          <a:prstGeom prst="rect">
            <a:avLst/>
          </a:prstGeom>
          <a:noFill/>
          <a:ln/>
        </p:spPr>
        <p:txBody>
          <a:bodyPr wrap="square" lIns="0" tIns="0" rIns="0" bIns="0" rtlCol="0" anchor="ctr"/>
          <a:lstStyle/>
          <a:p>
            <a:pPr indent="0" marL="0">
              <a:buNone/>
            </a:pPr>
            <a:r>
              <a:rPr lang="en-US" sz="1000" b="1" dirty="0">
                <a:solidFill>
                  <a:srgbClr val="F59E0B"/>
                </a:solidFill>
              </a:rPr>
              <a:t>Errors</a:t>
            </a:r>
            <a:endParaRPr lang="en-US" sz="1000" dirty="0"/>
          </a:p>
        </p:txBody>
      </p:sp>
      <p:sp>
        <p:nvSpPr>
          <p:cNvPr id="21" name="Text 17"/>
          <p:cNvSpPr/>
          <p:nvPr/>
        </p:nvSpPr>
        <p:spPr>
          <a:xfrm>
            <a:off x="9180576" y="5422392"/>
            <a:ext cx="1737360" cy="18288"/>
          </a:xfrm>
          <a:prstGeom prst="rect">
            <a:avLst/>
          </a:prstGeom>
          <a:noFill/>
          <a:ln/>
        </p:spPr>
        <p:txBody>
          <a:bodyPr wrap="square" lIns="254" tIns="254" rIns="254" bIns="254" rtlCol="0" anchor="ctr">
            <a:normAutofit/>
          </a:bodyPr>
          <a:lstStyle/>
          <a:p>
            <a:pPr indent="0" marL="0">
              <a:buNone/>
            </a:pPr>
            <a:r>
              <a:rPr lang="en-US" sz="1300" dirty="0">
                <a:solidFill>
                  <a:srgbClr val="0F172A"/>
                </a:solidFill>
              </a:rPr>
              <a:t>404 / 500 JSON</a:t>
            </a:r>
            <a:endParaRPr lang="en-US" sz="1300" dirty="0"/>
          </a:p>
        </p:txBody>
      </p:sp>
      <p:sp>
        <p:nvSpPr>
          <p:cNvPr id="22" name="Text 18"/>
          <p:cNvSpPr/>
          <p:nvPr/>
        </p:nvSpPr>
        <p:spPr>
          <a:xfrm>
            <a:off x="502920" y="6510528"/>
            <a:ext cx="3200400" cy="182880"/>
          </a:xfrm>
          <a:prstGeom prst="rect">
            <a:avLst/>
          </a:prstGeom>
          <a:noFill/>
          <a:ln/>
        </p:spPr>
        <p:txBody>
          <a:bodyPr wrap="square" lIns="0" tIns="0" rIns="0" bIns="0" rtlCol="0" anchor="ctr"/>
          <a:lstStyle/>
          <a:p>
            <a:pPr indent="0" marL="0">
              <a:buNone/>
            </a:pPr>
            <a:r>
              <a:rPr lang="en-US" sz="750" dirty="0">
                <a:solidFill>
                  <a:srgbClr val="64748B"/>
                </a:solidFill>
              </a:rPr>
              <a:t>Interview Question Tracker  |  4/5</a:t>
            </a:r>
            <a:endParaRPr lang="en-US" sz="750" dirty="0"/>
          </a:p>
        </p:txBody>
      </p:sp>
      <p:sp>
        <p:nvSpPr>
          <p:cNvPr id="23" name="Shape 19"/>
          <p:cNvSpPr/>
          <p:nvPr/>
        </p:nvSpPr>
        <p:spPr>
          <a:xfrm>
            <a:off x="9875520" y="6601968"/>
            <a:ext cx="1737360" cy="0"/>
          </a:xfrm>
          <a:prstGeom prst="line">
            <a:avLst/>
          </a:prstGeom>
          <a:noFill/>
          <a:ln w="12700">
            <a:solidFill>
              <a:srgbClr val="2563EB"/>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8FAFC"/>
          </a:solidFill>
          <a:ln w="12700">
            <a:solidFill>
              <a:srgbClr val="F8FAFC"/>
            </a:solidFill>
            <a:prstDash val="solid"/>
          </a:ln>
        </p:spPr>
      </p:sp>
      <p:sp>
        <p:nvSpPr>
          <p:cNvPr id="3" name="Shape 1"/>
          <p:cNvSpPr/>
          <p:nvPr/>
        </p:nvSpPr>
        <p:spPr>
          <a:xfrm rot="2100000">
            <a:off x="9646920" y="-685800"/>
            <a:ext cx="3474720" cy="3474720"/>
          </a:xfrm>
          <a:prstGeom prst="arc">
            <a:avLst/>
          </a:prstGeom>
          <a:solidFill>
            <a:srgbClr val="DBEAFE">
              <a:alpha val="82000"/>
            </a:srgbClr>
          </a:solidFill>
          <a:ln w="12700">
            <a:solidFill>
              <a:srgbClr val="DBEAFE">
                <a:alpha val="0"/>
              </a:srgbClr>
            </a:solidFill>
            <a:prstDash val="solid"/>
          </a:ln>
        </p:spPr>
      </p:sp>
      <p:sp>
        <p:nvSpPr>
          <p:cNvPr id="4" name="Text 2"/>
          <p:cNvSpPr/>
          <p:nvPr/>
        </p:nvSpPr>
        <p:spPr>
          <a:xfrm>
            <a:off x="502920" y="320040"/>
            <a:ext cx="4389120" cy="256032"/>
          </a:xfrm>
          <a:prstGeom prst="rect">
            <a:avLst/>
          </a:prstGeom>
          <a:noFill/>
          <a:ln/>
        </p:spPr>
        <p:txBody>
          <a:bodyPr wrap="square" rtlCol="0" anchor="ctr"/>
          <a:lstStyle/>
          <a:p>
            <a:pPr indent="0" marL="0">
              <a:buNone/>
            </a:pPr>
            <a:r>
              <a:rPr lang="en-US" sz="900" b="1" dirty="0">
                <a:solidFill>
                  <a:srgbClr val="2563EB"/>
                </a:solidFill>
                <a:latin typeface="Aptos" pitchFamily="34" charset="0"/>
                <a:ea typeface="Aptos" pitchFamily="34" charset="-122"/>
                <a:cs typeface="Aptos" pitchFamily="34" charset="-120"/>
              </a:rPr>
              <a:t>DEMO AND FUTURE ENHANCEMENTS</a:t>
            </a:r>
            <a:endParaRPr lang="en-US" sz="900" dirty="0"/>
          </a:p>
        </p:txBody>
      </p:sp>
      <p:sp>
        <p:nvSpPr>
          <p:cNvPr id="5" name="Text 3"/>
          <p:cNvSpPr/>
          <p:nvPr/>
        </p:nvSpPr>
        <p:spPr>
          <a:xfrm>
            <a:off x="502920" y="685800"/>
            <a:ext cx="7680960" cy="658368"/>
          </a:xfrm>
          <a:prstGeom prst="rect">
            <a:avLst/>
          </a:prstGeom>
          <a:noFill/>
          <a:ln/>
        </p:spPr>
        <p:txBody>
          <a:bodyPr wrap="square" lIns="0" tIns="0" rIns="0" bIns="0" rtlCol="0" anchor="ctr"/>
          <a:lstStyle/>
          <a:p>
            <a:pPr indent="0" marL="0">
              <a:buNone/>
            </a:pPr>
            <a:r>
              <a:rPr lang="en-US" sz="2900" b="1" dirty="0">
                <a:solidFill>
                  <a:srgbClr val="0F172A"/>
                </a:solidFill>
                <a:latin typeface="Aptos Display" pitchFamily="34" charset="0"/>
                <a:ea typeface="Aptos Display" pitchFamily="34" charset="-122"/>
                <a:cs typeface="Aptos Display" pitchFamily="34" charset="-120"/>
              </a:rPr>
              <a:t>Show the complete user journey in under five minutes</a:t>
            </a:r>
            <a:endParaRPr lang="en-US" sz="2900" dirty="0"/>
          </a:p>
        </p:txBody>
      </p:sp>
      <p:sp>
        <p:nvSpPr>
          <p:cNvPr id="6" name="Text 4"/>
          <p:cNvSpPr/>
          <p:nvPr/>
        </p:nvSpPr>
        <p:spPr>
          <a:xfrm>
            <a:off x="530352" y="1353312"/>
            <a:ext cx="7040880" cy="411480"/>
          </a:xfrm>
          <a:prstGeom prst="rect">
            <a:avLst/>
          </a:prstGeom>
          <a:noFill/>
          <a:ln/>
        </p:spPr>
        <p:txBody>
          <a:bodyPr wrap="square" lIns="0" tIns="0" rIns="0" bIns="0" rtlCol="0" anchor="ctr"/>
          <a:lstStyle/>
          <a:p>
            <a:pPr indent="0" marL="0">
              <a:buNone/>
            </a:pPr>
            <a:r>
              <a:rPr lang="en-US" sz="1250" dirty="0">
                <a:solidFill>
                  <a:srgbClr val="475569"/>
                </a:solidFill>
              </a:rPr>
              <a:t>The demo proves CRUD, filtering, PostgreSQL integration, and clean TypeScript boundaries.</a:t>
            </a:r>
            <a:endParaRPr lang="en-US" sz="1250" dirty="0"/>
          </a:p>
        </p:txBody>
      </p:sp>
      <p:sp>
        <p:nvSpPr>
          <p:cNvPr id="7" name="Shape 5"/>
          <p:cNvSpPr/>
          <p:nvPr/>
        </p:nvSpPr>
        <p:spPr>
          <a:xfrm>
            <a:off x="685800" y="1828800"/>
            <a:ext cx="5166360" cy="3977640"/>
          </a:xfrm>
          <a:prstGeom prst="roundRect">
            <a:avLst>
              <a:gd name="adj" fmla="val 1839"/>
            </a:avLst>
          </a:prstGeom>
          <a:solidFill>
            <a:srgbClr val="FFFFFF"/>
          </a:solidFill>
          <a:ln w="12700">
            <a:solidFill>
              <a:srgbClr val="E2E8F0"/>
            </a:solidFill>
            <a:prstDash val="solid"/>
          </a:ln>
        </p:spPr>
      </p:sp>
      <p:sp>
        <p:nvSpPr>
          <p:cNvPr id="8" name="Text 6"/>
          <p:cNvSpPr/>
          <p:nvPr/>
        </p:nvSpPr>
        <p:spPr>
          <a:xfrm>
            <a:off x="960120" y="2084832"/>
            <a:ext cx="2560320" cy="274320"/>
          </a:xfrm>
          <a:prstGeom prst="rect">
            <a:avLst/>
          </a:prstGeom>
          <a:noFill/>
          <a:ln/>
        </p:spPr>
        <p:txBody>
          <a:bodyPr wrap="square" lIns="0" tIns="0" rIns="0" bIns="0" rtlCol="0" anchor="ctr"/>
          <a:lstStyle/>
          <a:p>
            <a:pPr indent="0" marL="0">
              <a:buNone/>
            </a:pPr>
            <a:r>
              <a:rPr lang="en-US" sz="1700" b="1" dirty="0">
                <a:solidFill>
                  <a:srgbClr val="0F172A"/>
                </a:solidFill>
              </a:rPr>
              <a:t>Demo Script</a:t>
            </a:r>
            <a:endParaRPr lang="en-US" sz="1700" dirty="0"/>
          </a:p>
        </p:txBody>
      </p:sp>
      <p:sp>
        <p:nvSpPr>
          <p:cNvPr id="9" name="Text 7"/>
          <p:cNvSpPr/>
          <p:nvPr/>
        </p:nvSpPr>
        <p:spPr>
          <a:xfrm>
            <a:off x="1024128" y="2688336"/>
            <a:ext cx="256032" cy="219456"/>
          </a:xfrm>
          <a:prstGeom prst="rect">
            <a:avLst/>
          </a:prstGeom>
          <a:noFill/>
          <a:ln/>
        </p:spPr>
        <p:txBody>
          <a:bodyPr wrap="square" lIns="0" tIns="0" rIns="0" bIns="0" rtlCol="0" anchor="ctr"/>
          <a:lstStyle/>
          <a:p>
            <a:pPr indent="0" marL="0">
              <a:buNone/>
            </a:pPr>
            <a:r>
              <a:rPr lang="en-US" sz="1000" b="1" dirty="0">
                <a:solidFill>
                  <a:srgbClr val="2563EB"/>
                </a:solidFill>
              </a:rPr>
              <a:t>1</a:t>
            </a:r>
            <a:endParaRPr lang="en-US" sz="1000" dirty="0"/>
          </a:p>
        </p:txBody>
      </p:sp>
      <p:sp>
        <p:nvSpPr>
          <p:cNvPr id="10" name="Text 8"/>
          <p:cNvSpPr/>
          <p:nvPr/>
        </p:nvSpPr>
        <p:spPr>
          <a:xfrm>
            <a:off x="1417320" y="2651760"/>
            <a:ext cx="3749040" cy="256032"/>
          </a:xfrm>
          <a:prstGeom prst="rect">
            <a:avLst/>
          </a:prstGeom>
          <a:noFill/>
          <a:ln/>
        </p:spPr>
        <p:txBody>
          <a:bodyPr wrap="square" lIns="0" tIns="0" rIns="0" bIns="0" rtlCol="0" anchor="ctr"/>
          <a:lstStyle/>
          <a:p>
            <a:pPr indent="0" marL="0">
              <a:buNone/>
            </a:pPr>
            <a:r>
              <a:rPr lang="en-US" sz="1250" dirty="0">
                <a:solidFill>
                  <a:srgbClr val="0F172A"/>
                </a:solidFill>
              </a:rPr>
              <a:t>Start backend + frontend</a:t>
            </a:r>
            <a:endParaRPr lang="en-US" sz="1250" dirty="0"/>
          </a:p>
        </p:txBody>
      </p:sp>
      <p:sp>
        <p:nvSpPr>
          <p:cNvPr id="11" name="Text 9"/>
          <p:cNvSpPr/>
          <p:nvPr/>
        </p:nvSpPr>
        <p:spPr>
          <a:xfrm>
            <a:off x="1024128" y="3163824"/>
            <a:ext cx="256032" cy="219456"/>
          </a:xfrm>
          <a:prstGeom prst="rect">
            <a:avLst/>
          </a:prstGeom>
          <a:noFill/>
          <a:ln/>
        </p:spPr>
        <p:txBody>
          <a:bodyPr wrap="square" lIns="0" tIns="0" rIns="0" bIns="0" rtlCol="0" anchor="ctr"/>
          <a:lstStyle/>
          <a:p>
            <a:pPr indent="0" marL="0">
              <a:buNone/>
            </a:pPr>
            <a:r>
              <a:rPr lang="en-US" sz="1000" b="1" dirty="0">
                <a:solidFill>
                  <a:srgbClr val="2563EB"/>
                </a:solidFill>
              </a:rPr>
              <a:t>2</a:t>
            </a:r>
            <a:endParaRPr lang="en-US" sz="1000" dirty="0"/>
          </a:p>
        </p:txBody>
      </p:sp>
      <p:sp>
        <p:nvSpPr>
          <p:cNvPr id="12" name="Text 10"/>
          <p:cNvSpPr/>
          <p:nvPr/>
        </p:nvSpPr>
        <p:spPr>
          <a:xfrm>
            <a:off x="1417320" y="3127248"/>
            <a:ext cx="3749040" cy="256032"/>
          </a:xfrm>
          <a:prstGeom prst="rect">
            <a:avLst/>
          </a:prstGeom>
          <a:noFill/>
          <a:ln/>
        </p:spPr>
        <p:txBody>
          <a:bodyPr wrap="square" lIns="0" tIns="0" rIns="0" bIns="0" rtlCol="0" anchor="ctr"/>
          <a:lstStyle/>
          <a:p>
            <a:pPr indent="0" marL="0">
              <a:buNone/>
            </a:pPr>
            <a:r>
              <a:rPr lang="en-US" sz="1250" dirty="0">
                <a:solidFill>
                  <a:srgbClr val="0F172A"/>
                </a:solidFill>
              </a:rPr>
              <a:t>Add a new problem</a:t>
            </a:r>
            <a:endParaRPr lang="en-US" sz="1250" dirty="0"/>
          </a:p>
        </p:txBody>
      </p:sp>
      <p:sp>
        <p:nvSpPr>
          <p:cNvPr id="13" name="Text 11"/>
          <p:cNvSpPr/>
          <p:nvPr/>
        </p:nvSpPr>
        <p:spPr>
          <a:xfrm>
            <a:off x="1024128" y="3639312"/>
            <a:ext cx="256032" cy="219456"/>
          </a:xfrm>
          <a:prstGeom prst="rect">
            <a:avLst/>
          </a:prstGeom>
          <a:noFill/>
          <a:ln/>
        </p:spPr>
        <p:txBody>
          <a:bodyPr wrap="square" lIns="0" tIns="0" rIns="0" bIns="0" rtlCol="0" anchor="ctr"/>
          <a:lstStyle/>
          <a:p>
            <a:pPr indent="0" marL="0">
              <a:buNone/>
            </a:pPr>
            <a:r>
              <a:rPr lang="en-US" sz="1000" b="1" dirty="0">
                <a:solidFill>
                  <a:srgbClr val="2563EB"/>
                </a:solidFill>
              </a:rPr>
              <a:t>3</a:t>
            </a:r>
            <a:endParaRPr lang="en-US" sz="1000" dirty="0"/>
          </a:p>
        </p:txBody>
      </p:sp>
      <p:sp>
        <p:nvSpPr>
          <p:cNvPr id="14" name="Text 12"/>
          <p:cNvSpPr/>
          <p:nvPr/>
        </p:nvSpPr>
        <p:spPr>
          <a:xfrm>
            <a:off x="1417320" y="3602736"/>
            <a:ext cx="3749040" cy="256032"/>
          </a:xfrm>
          <a:prstGeom prst="rect">
            <a:avLst/>
          </a:prstGeom>
          <a:noFill/>
          <a:ln/>
        </p:spPr>
        <p:txBody>
          <a:bodyPr wrap="square" lIns="0" tIns="0" rIns="0" bIns="0" rtlCol="0" anchor="ctr"/>
          <a:lstStyle/>
          <a:p>
            <a:pPr indent="0" marL="0">
              <a:buNone/>
            </a:pPr>
            <a:r>
              <a:rPr lang="en-US" sz="1250" dirty="0">
                <a:solidFill>
                  <a:srgbClr val="0F172A"/>
                </a:solidFill>
              </a:rPr>
              <a:t>Search and filter by topic/difficulty</a:t>
            </a:r>
            <a:endParaRPr lang="en-US" sz="1250" dirty="0"/>
          </a:p>
        </p:txBody>
      </p:sp>
      <p:sp>
        <p:nvSpPr>
          <p:cNvPr id="15" name="Text 13"/>
          <p:cNvSpPr/>
          <p:nvPr/>
        </p:nvSpPr>
        <p:spPr>
          <a:xfrm>
            <a:off x="1024128" y="4114800"/>
            <a:ext cx="256032" cy="219456"/>
          </a:xfrm>
          <a:prstGeom prst="rect">
            <a:avLst/>
          </a:prstGeom>
          <a:noFill/>
          <a:ln/>
        </p:spPr>
        <p:txBody>
          <a:bodyPr wrap="square" lIns="0" tIns="0" rIns="0" bIns="0" rtlCol="0" anchor="ctr"/>
          <a:lstStyle/>
          <a:p>
            <a:pPr indent="0" marL="0">
              <a:buNone/>
            </a:pPr>
            <a:r>
              <a:rPr lang="en-US" sz="1000" b="1" dirty="0">
                <a:solidFill>
                  <a:srgbClr val="2563EB"/>
                </a:solidFill>
              </a:rPr>
              <a:t>4</a:t>
            </a:r>
            <a:endParaRPr lang="en-US" sz="1000" dirty="0"/>
          </a:p>
        </p:txBody>
      </p:sp>
      <p:sp>
        <p:nvSpPr>
          <p:cNvPr id="16" name="Text 14"/>
          <p:cNvSpPr/>
          <p:nvPr/>
        </p:nvSpPr>
        <p:spPr>
          <a:xfrm>
            <a:off x="1417320" y="4078224"/>
            <a:ext cx="3749040" cy="256032"/>
          </a:xfrm>
          <a:prstGeom prst="rect">
            <a:avLst/>
          </a:prstGeom>
          <a:noFill/>
          <a:ln/>
        </p:spPr>
        <p:txBody>
          <a:bodyPr wrap="square" lIns="0" tIns="0" rIns="0" bIns="0" rtlCol="0" anchor="ctr"/>
          <a:lstStyle/>
          <a:p>
            <a:pPr indent="0" marL="0">
              <a:buNone/>
            </a:pPr>
            <a:r>
              <a:rPr lang="en-US" sz="1250" dirty="0">
                <a:solidFill>
                  <a:srgbClr val="0F172A"/>
                </a:solidFill>
              </a:rPr>
              <a:t>Change status to Solved</a:t>
            </a:r>
            <a:endParaRPr lang="en-US" sz="1250" dirty="0"/>
          </a:p>
        </p:txBody>
      </p:sp>
      <p:sp>
        <p:nvSpPr>
          <p:cNvPr id="17" name="Text 15"/>
          <p:cNvSpPr/>
          <p:nvPr/>
        </p:nvSpPr>
        <p:spPr>
          <a:xfrm>
            <a:off x="1024128" y="4590288"/>
            <a:ext cx="256032" cy="219456"/>
          </a:xfrm>
          <a:prstGeom prst="rect">
            <a:avLst/>
          </a:prstGeom>
          <a:noFill/>
          <a:ln/>
        </p:spPr>
        <p:txBody>
          <a:bodyPr wrap="square" lIns="0" tIns="0" rIns="0" bIns="0" rtlCol="0" anchor="ctr"/>
          <a:lstStyle/>
          <a:p>
            <a:pPr indent="0" marL="0">
              <a:buNone/>
            </a:pPr>
            <a:r>
              <a:rPr lang="en-US" sz="1000" b="1" dirty="0">
                <a:solidFill>
                  <a:srgbClr val="2563EB"/>
                </a:solidFill>
              </a:rPr>
              <a:t>5</a:t>
            </a:r>
            <a:endParaRPr lang="en-US" sz="1000" dirty="0"/>
          </a:p>
        </p:txBody>
      </p:sp>
      <p:sp>
        <p:nvSpPr>
          <p:cNvPr id="18" name="Text 16"/>
          <p:cNvSpPr/>
          <p:nvPr/>
        </p:nvSpPr>
        <p:spPr>
          <a:xfrm>
            <a:off x="1417320" y="4553712"/>
            <a:ext cx="3749040" cy="256032"/>
          </a:xfrm>
          <a:prstGeom prst="rect">
            <a:avLst/>
          </a:prstGeom>
          <a:noFill/>
          <a:ln/>
        </p:spPr>
        <p:txBody>
          <a:bodyPr wrap="square" lIns="0" tIns="0" rIns="0" bIns="0" rtlCol="0" anchor="ctr"/>
          <a:lstStyle/>
          <a:p>
            <a:pPr indent="0" marL="0">
              <a:buNone/>
            </a:pPr>
            <a:r>
              <a:rPr lang="en-US" sz="1250" dirty="0">
                <a:solidFill>
                  <a:srgbClr val="0F172A"/>
                </a:solidFill>
              </a:rPr>
              <a:t>Delete a problem and show count update</a:t>
            </a:r>
            <a:endParaRPr lang="en-US" sz="1250" dirty="0"/>
          </a:p>
        </p:txBody>
      </p:sp>
      <p:sp>
        <p:nvSpPr>
          <p:cNvPr id="19" name="Shape 17"/>
          <p:cNvSpPr/>
          <p:nvPr/>
        </p:nvSpPr>
        <p:spPr>
          <a:xfrm>
            <a:off x="6309360" y="1828800"/>
            <a:ext cx="5166360" cy="3977640"/>
          </a:xfrm>
          <a:prstGeom prst="roundRect">
            <a:avLst>
              <a:gd name="adj" fmla="val 1839"/>
            </a:avLst>
          </a:prstGeom>
          <a:solidFill>
            <a:srgbClr val="0F172A"/>
          </a:solidFill>
          <a:ln w="12700">
            <a:solidFill>
              <a:srgbClr val="0F172A"/>
            </a:solidFill>
            <a:prstDash val="solid"/>
          </a:ln>
        </p:spPr>
      </p:sp>
      <p:sp>
        <p:nvSpPr>
          <p:cNvPr id="20" name="Text 18"/>
          <p:cNvSpPr/>
          <p:nvPr/>
        </p:nvSpPr>
        <p:spPr>
          <a:xfrm>
            <a:off x="6583680" y="2084832"/>
            <a:ext cx="3108960" cy="274320"/>
          </a:xfrm>
          <a:prstGeom prst="rect">
            <a:avLst/>
          </a:prstGeom>
          <a:noFill/>
          <a:ln/>
        </p:spPr>
        <p:txBody>
          <a:bodyPr wrap="square" lIns="0" tIns="0" rIns="0" bIns="0" rtlCol="0" anchor="ctr"/>
          <a:lstStyle/>
          <a:p>
            <a:pPr indent="0" marL="0">
              <a:buNone/>
            </a:pPr>
            <a:r>
              <a:rPr lang="en-US" sz="1700" b="1" dirty="0">
                <a:solidFill>
                  <a:srgbClr val="FFFFFF"/>
                </a:solidFill>
              </a:rPr>
              <a:t>Future Enhancements</a:t>
            </a:r>
            <a:endParaRPr lang="en-US" sz="1700" dirty="0"/>
          </a:p>
        </p:txBody>
      </p:sp>
      <p:sp>
        <p:nvSpPr>
          <p:cNvPr id="21" name="Text 19"/>
          <p:cNvSpPr/>
          <p:nvPr/>
        </p:nvSpPr>
        <p:spPr>
          <a:xfrm>
            <a:off x="6629400" y="2697480"/>
            <a:ext cx="228600" cy="182880"/>
          </a:xfrm>
          <a:prstGeom prst="rect">
            <a:avLst/>
          </a:prstGeom>
          <a:noFill/>
          <a:ln/>
        </p:spPr>
        <p:txBody>
          <a:bodyPr wrap="square" lIns="0" tIns="0" rIns="0" bIns="0" rtlCol="0" anchor="ctr"/>
          <a:lstStyle/>
          <a:p>
            <a:pPr indent="0" marL="0">
              <a:buNone/>
            </a:pPr>
            <a:r>
              <a:rPr lang="en-US" sz="1300" dirty="0">
                <a:solidFill>
                  <a:srgbClr val="93C5FD"/>
                </a:solidFill>
              </a:rPr>
              <a:t>•</a:t>
            </a:r>
            <a:endParaRPr lang="en-US" sz="1300" dirty="0"/>
          </a:p>
        </p:txBody>
      </p:sp>
      <p:sp>
        <p:nvSpPr>
          <p:cNvPr id="22" name="Text 20"/>
          <p:cNvSpPr/>
          <p:nvPr/>
        </p:nvSpPr>
        <p:spPr>
          <a:xfrm>
            <a:off x="6903720" y="2651760"/>
            <a:ext cx="4069080" cy="274320"/>
          </a:xfrm>
          <a:prstGeom prst="rect">
            <a:avLst/>
          </a:prstGeom>
          <a:noFill/>
          <a:ln/>
        </p:spPr>
        <p:txBody>
          <a:bodyPr wrap="square" lIns="0" tIns="0" rIns="0" bIns="0" rtlCol="0" anchor="ctr"/>
          <a:lstStyle/>
          <a:p>
            <a:pPr indent="0" marL="0">
              <a:buNone/>
            </a:pPr>
            <a:r>
              <a:rPr lang="en-US" sz="1250" dirty="0">
                <a:solidFill>
                  <a:srgbClr val="FFFFFF"/>
                </a:solidFill>
              </a:rPr>
              <a:t>Edit full problem details</a:t>
            </a:r>
            <a:endParaRPr lang="en-US" sz="1250" dirty="0"/>
          </a:p>
        </p:txBody>
      </p:sp>
      <p:sp>
        <p:nvSpPr>
          <p:cNvPr id="23" name="Text 21"/>
          <p:cNvSpPr/>
          <p:nvPr/>
        </p:nvSpPr>
        <p:spPr>
          <a:xfrm>
            <a:off x="6629400" y="3172968"/>
            <a:ext cx="228600" cy="182880"/>
          </a:xfrm>
          <a:prstGeom prst="rect">
            <a:avLst/>
          </a:prstGeom>
          <a:noFill/>
          <a:ln/>
        </p:spPr>
        <p:txBody>
          <a:bodyPr wrap="square" lIns="0" tIns="0" rIns="0" bIns="0" rtlCol="0" anchor="ctr"/>
          <a:lstStyle/>
          <a:p>
            <a:pPr indent="0" marL="0">
              <a:buNone/>
            </a:pPr>
            <a:r>
              <a:rPr lang="en-US" sz="1300" dirty="0">
                <a:solidFill>
                  <a:srgbClr val="93C5FD"/>
                </a:solidFill>
              </a:rPr>
              <a:t>•</a:t>
            </a:r>
            <a:endParaRPr lang="en-US" sz="1300" dirty="0"/>
          </a:p>
        </p:txBody>
      </p:sp>
      <p:sp>
        <p:nvSpPr>
          <p:cNvPr id="24" name="Text 22"/>
          <p:cNvSpPr/>
          <p:nvPr/>
        </p:nvSpPr>
        <p:spPr>
          <a:xfrm>
            <a:off x="6903720" y="3127248"/>
            <a:ext cx="4069080" cy="274320"/>
          </a:xfrm>
          <a:prstGeom prst="rect">
            <a:avLst/>
          </a:prstGeom>
          <a:noFill/>
          <a:ln/>
        </p:spPr>
        <p:txBody>
          <a:bodyPr wrap="square" lIns="0" tIns="0" rIns="0" bIns="0" rtlCol="0" anchor="ctr"/>
          <a:lstStyle/>
          <a:p>
            <a:pPr indent="0" marL="0">
              <a:buNone/>
            </a:pPr>
            <a:r>
              <a:rPr lang="en-US" sz="1250" dirty="0">
                <a:solidFill>
                  <a:srgbClr val="FFFFFF"/>
                </a:solidFill>
              </a:rPr>
              <a:t>Revision date and priority</a:t>
            </a:r>
            <a:endParaRPr lang="en-US" sz="1250" dirty="0"/>
          </a:p>
        </p:txBody>
      </p:sp>
      <p:sp>
        <p:nvSpPr>
          <p:cNvPr id="25" name="Text 23"/>
          <p:cNvSpPr/>
          <p:nvPr/>
        </p:nvSpPr>
        <p:spPr>
          <a:xfrm>
            <a:off x="6629400" y="3648456"/>
            <a:ext cx="228600" cy="182880"/>
          </a:xfrm>
          <a:prstGeom prst="rect">
            <a:avLst/>
          </a:prstGeom>
          <a:noFill/>
          <a:ln/>
        </p:spPr>
        <p:txBody>
          <a:bodyPr wrap="square" lIns="0" tIns="0" rIns="0" bIns="0" rtlCol="0" anchor="ctr"/>
          <a:lstStyle/>
          <a:p>
            <a:pPr indent="0" marL="0">
              <a:buNone/>
            </a:pPr>
            <a:r>
              <a:rPr lang="en-US" sz="1300" dirty="0">
                <a:solidFill>
                  <a:srgbClr val="93C5FD"/>
                </a:solidFill>
              </a:rPr>
              <a:t>•</a:t>
            </a:r>
            <a:endParaRPr lang="en-US" sz="1300" dirty="0"/>
          </a:p>
        </p:txBody>
      </p:sp>
      <p:sp>
        <p:nvSpPr>
          <p:cNvPr id="26" name="Text 24"/>
          <p:cNvSpPr/>
          <p:nvPr/>
        </p:nvSpPr>
        <p:spPr>
          <a:xfrm>
            <a:off x="6903720" y="3602736"/>
            <a:ext cx="4069080" cy="274320"/>
          </a:xfrm>
          <a:prstGeom prst="rect">
            <a:avLst/>
          </a:prstGeom>
          <a:noFill/>
          <a:ln/>
        </p:spPr>
        <p:txBody>
          <a:bodyPr wrap="square" lIns="0" tIns="0" rIns="0" bIns="0" rtlCol="0" anchor="ctr"/>
          <a:lstStyle/>
          <a:p>
            <a:pPr indent="0" marL="0">
              <a:buNone/>
            </a:pPr>
            <a:r>
              <a:rPr lang="en-US" sz="1250" dirty="0">
                <a:solidFill>
                  <a:srgbClr val="FFFFFF"/>
                </a:solidFill>
              </a:rPr>
              <a:t>Topic-wise analytics</a:t>
            </a:r>
            <a:endParaRPr lang="en-US" sz="1250" dirty="0"/>
          </a:p>
        </p:txBody>
      </p:sp>
      <p:sp>
        <p:nvSpPr>
          <p:cNvPr id="27" name="Text 25"/>
          <p:cNvSpPr/>
          <p:nvPr/>
        </p:nvSpPr>
        <p:spPr>
          <a:xfrm>
            <a:off x="6629400" y="4123944"/>
            <a:ext cx="228600" cy="182880"/>
          </a:xfrm>
          <a:prstGeom prst="rect">
            <a:avLst/>
          </a:prstGeom>
          <a:noFill/>
          <a:ln/>
        </p:spPr>
        <p:txBody>
          <a:bodyPr wrap="square" lIns="0" tIns="0" rIns="0" bIns="0" rtlCol="0" anchor="ctr"/>
          <a:lstStyle/>
          <a:p>
            <a:pPr indent="0" marL="0">
              <a:buNone/>
            </a:pPr>
            <a:r>
              <a:rPr lang="en-US" sz="1300" dirty="0">
                <a:solidFill>
                  <a:srgbClr val="93C5FD"/>
                </a:solidFill>
              </a:rPr>
              <a:t>•</a:t>
            </a:r>
            <a:endParaRPr lang="en-US" sz="1300" dirty="0"/>
          </a:p>
        </p:txBody>
      </p:sp>
      <p:sp>
        <p:nvSpPr>
          <p:cNvPr id="28" name="Text 26"/>
          <p:cNvSpPr/>
          <p:nvPr/>
        </p:nvSpPr>
        <p:spPr>
          <a:xfrm>
            <a:off x="6903720" y="4078224"/>
            <a:ext cx="4069080" cy="274320"/>
          </a:xfrm>
          <a:prstGeom prst="rect">
            <a:avLst/>
          </a:prstGeom>
          <a:noFill/>
          <a:ln/>
        </p:spPr>
        <p:txBody>
          <a:bodyPr wrap="square" lIns="0" tIns="0" rIns="0" bIns="0" rtlCol="0" anchor="ctr"/>
          <a:lstStyle/>
          <a:p>
            <a:pPr indent="0" marL="0">
              <a:buNone/>
            </a:pPr>
            <a:r>
              <a:rPr lang="en-US" sz="1250" dirty="0">
                <a:solidFill>
                  <a:srgbClr val="FFFFFF"/>
                </a:solidFill>
              </a:rPr>
              <a:t>CSV import/export</a:t>
            </a:r>
            <a:endParaRPr lang="en-US" sz="1250" dirty="0"/>
          </a:p>
        </p:txBody>
      </p:sp>
      <p:sp>
        <p:nvSpPr>
          <p:cNvPr id="29" name="Text 27"/>
          <p:cNvSpPr/>
          <p:nvPr/>
        </p:nvSpPr>
        <p:spPr>
          <a:xfrm>
            <a:off x="6629400" y="4599432"/>
            <a:ext cx="228600" cy="182880"/>
          </a:xfrm>
          <a:prstGeom prst="rect">
            <a:avLst/>
          </a:prstGeom>
          <a:noFill/>
          <a:ln/>
        </p:spPr>
        <p:txBody>
          <a:bodyPr wrap="square" lIns="0" tIns="0" rIns="0" bIns="0" rtlCol="0" anchor="ctr"/>
          <a:lstStyle/>
          <a:p>
            <a:pPr indent="0" marL="0">
              <a:buNone/>
            </a:pPr>
            <a:r>
              <a:rPr lang="en-US" sz="1300" dirty="0">
                <a:solidFill>
                  <a:srgbClr val="93C5FD"/>
                </a:solidFill>
              </a:rPr>
              <a:t>•</a:t>
            </a:r>
            <a:endParaRPr lang="en-US" sz="1300" dirty="0"/>
          </a:p>
        </p:txBody>
      </p:sp>
      <p:sp>
        <p:nvSpPr>
          <p:cNvPr id="30" name="Text 28"/>
          <p:cNvSpPr/>
          <p:nvPr/>
        </p:nvSpPr>
        <p:spPr>
          <a:xfrm>
            <a:off x="6903720" y="4553712"/>
            <a:ext cx="4069080" cy="274320"/>
          </a:xfrm>
          <a:prstGeom prst="rect">
            <a:avLst/>
          </a:prstGeom>
          <a:noFill/>
          <a:ln/>
        </p:spPr>
        <p:txBody>
          <a:bodyPr wrap="square" lIns="0" tIns="0" rIns="0" bIns="0" rtlCol="0" anchor="ctr"/>
          <a:lstStyle/>
          <a:p>
            <a:pPr indent="0" marL="0">
              <a:buNone/>
            </a:pPr>
            <a:r>
              <a:rPr lang="en-US" sz="1250" dirty="0">
                <a:solidFill>
                  <a:srgbClr val="FFFFFF"/>
                </a:solidFill>
              </a:rPr>
              <a:t>Optional auth only if multi-user support is required</a:t>
            </a:r>
            <a:endParaRPr lang="en-US" sz="1250" dirty="0"/>
          </a:p>
        </p:txBody>
      </p:sp>
      <p:sp>
        <p:nvSpPr>
          <p:cNvPr id="31" name="Text 29"/>
          <p:cNvSpPr/>
          <p:nvPr/>
        </p:nvSpPr>
        <p:spPr>
          <a:xfrm>
            <a:off x="960120" y="6144768"/>
            <a:ext cx="10332720" cy="256032"/>
          </a:xfrm>
          <a:prstGeom prst="rect">
            <a:avLst/>
          </a:prstGeom>
          <a:noFill/>
          <a:ln/>
        </p:spPr>
        <p:txBody>
          <a:bodyPr wrap="square" lIns="0" tIns="0" rIns="0" bIns="0" rtlCol="0" anchor="ctr"/>
          <a:lstStyle/>
          <a:p>
            <a:pPr algn="ctr" indent="0" marL="0">
              <a:buNone/>
            </a:pPr>
            <a:r>
              <a:rPr lang="en-US" sz="1250" b="1" dirty="0">
                <a:solidFill>
                  <a:srgbClr val="475569"/>
                </a:solidFill>
              </a:rPr>
              <a:t>Keep the next version guided by actual candidate workflow, not by adding infrastructure for its own sake.</a:t>
            </a:r>
            <a:endParaRPr lang="en-US" sz="1250" dirty="0"/>
          </a:p>
        </p:txBody>
      </p:sp>
      <p:sp>
        <p:nvSpPr>
          <p:cNvPr id="32" name="Text 30"/>
          <p:cNvSpPr/>
          <p:nvPr/>
        </p:nvSpPr>
        <p:spPr>
          <a:xfrm>
            <a:off x="502920" y="6510528"/>
            <a:ext cx="3200400" cy="182880"/>
          </a:xfrm>
          <a:prstGeom prst="rect">
            <a:avLst/>
          </a:prstGeom>
          <a:noFill/>
          <a:ln/>
        </p:spPr>
        <p:txBody>
          <a:bodyPr wrap="square" lIns="0" tIns="0" rIns="0" bIns="0" rtlCol="0" anchor="ctr"/>
          <a:lstStyle/>
          <a:p>
            <a:pPr indent="0" marL="0">
              <a:buNone/>
            </a:pPr>
            <a:r>
              <a:rPr lang="en-US" sz="750" dirty="0">
                <a:solidFill>
                  <a:srgbClr val="64748B"/>
                </a:solidFill>
              </a:rPr>
              <a:t>Interview Question Tracker  |  5/5</a:t>
            </a:r>
            <a:endParaRPr lang="en-US" sz="750" dirty="0"/>
          </a:p>
        </p:txBody>
      </p:sp>
      <p:sp>
        <p:nvSpPr>
          <p:cNvPr id="33" name="Shape 31"/>
          <p:cNvSpPr/>
          <p:nvPr/>
        </p:nvSpPr>
        <p:spPr>
          <a:xfrm>
            <a:off x="9875520" y="6601968"/>
            <a:ext cx="1737360" cy="0"/>
          </a:xfrm>
          <a:prstGeom prst="line">
            <a:avLst/>
          </a:prstGeom>
          <a:noFill/>
          <a:ln w="12700">
            <a:solidFill>
              <a:srgbClr val="2563EB"/>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Interview Question Tracker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Interview Question Tracker</dc:title>
  <dc:subject>Full-stack project overview</dc:subject>
  <dc:creator>Codex</dc:creator>
  <cp:lastModifiedBy>Codex</cp:lastModifiedBy>
  <cp:revision>1</cp:revision>
  <dcterms:created xsi:type="dcterms:W3CDTF">2026-06-06T07:35:11Z</dcterms:created>
  <dcterms:modified xsi:type="dcterms:W3CDTF">2026-06-06T07:35:11Z</dcterms:modified>
</cp:coreProperties>
</file>